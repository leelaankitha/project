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59" r:id="rId26"/>
    <p:sldId id="281" r:id="rId27"/>
    <p:sldId id="285" r:id="rId28"/>
    <p:sldId id="280" r:id="rId29"/>
    <p:sldId id="286" r:id="rId30"/>
    <p:sldId id="287" r:id="rId31"/>
    <p:sldId id="288" r:id="rId32"/>
    <p:sldId id="289" r:id="rId33"/>
    <p:sldId id="290" r:id="rId34"/>
    <p:sldId id="291" r:id="rId35"/>
    <p:sldId id="292" r:id="rId36"/>
    <p:sldId id="293" r:id="rId37"/>
    <p:sldId id="294" r:id="rId38"/>
    <p:sldId id="295" r:id="rId39"/>
    <p:sldId id="298" r:id="rId40"/>
    <p:sldId id="296" r:id="rId41"/>
    <p:sldId id="297" r:id="rId42"/>
    <p:sldId id="299" r:id="rId43"/>
    <p:sldId id="300" r:id="rId44"/>
    <p:sldId id="301" r:id="rId45"/>
    <p:sldId id="282" r:id="rId46"/>
    <p:sldId id="283" r:id="rId47"/>
    <p:sldId id="302" r:id="rId48"/>
    <p:sldId id="303" r:id="rId49"/>
    <p:sldId id="304" r:id="rId50"/>
    <p:sldId id="284" r:id="rId51"/>
    <p:sldId id="305" r:id="rId5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8" autoAdjust="0"/>
    <p:restoredTop sz="94660"/>
  </p:normalViewPr>
  <p:slideViewPr>
    <p:cSldViewPr snapToGrid="0" showGuides="1">
      <p:cViewPr varScale="1">
        <p:scale>
          <a:sx n="93" d="100"/>
          <a:sy n="93" d="100"/>
        </p:scale>
        <p:origin x="163" y="72"/>
      </p:cViewPr>
      <p:guideLst>
        <p:guide orient="horz" pos="2160"/>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smtClean="0"/>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5D6CF90-237E-4038-B174-6931BE3C07C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3A912DF5-0892-450B-8B08-E77B39895DDC}"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5D6CF90-237E-4038-B174-6931BE3C07C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smtClean="0"/>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a:xfrm>
            <a:off x="8593667" y="6272784"/>
            <a:ext cx="2644309" cy="365125"/>
          </a:xfrm>
        </p:spPr>
        <p:txBody>
          <a:bodyPr/>
          <a:lstStyle/>
          <a:p>
            <a:fld id="{B5D6CF90-237E-4038-B174-6931BE3C07CA}" type="datetimeFigureOut">
              <a:rPr lang="en-IN" smtClean="0"/>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3A912DF5-0892-450B-8B08-E77B39895DDC}"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B5D6CF90-237E-4038-B174-6931BE3C07C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B5D6CF90-237E-4038-B174-6931BE3C07CA}"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5D6CF90-237E-4038-B174-6931BE3C07CA}"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D6CF90-237E-4038-B174-6931BE3C07CA}"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B5D6CF90-237E-4038-B174-6931BE3C07CA}"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B5D6CF90-237E-4038-B174-6931BE3C07CA}" type="datetimeFigureOut">
              <a:rPr lang="en-IN" smtClean="0"/>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5D6CF90-237E-4038-B174-6931BE3C07C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5D6CF90-237E-4038-B174-6931BE3C07CA}"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A912DF5-0892-450B-8B08-E77B39895DDC}"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microsoft.com/office/2007/relationships/hdphoto" Target="../media/image4.wdp"/><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5D6CF90-237E-4038-B174-6931BE3C07CA}" type="datetimeFigureOut">
              <a:rPr lang="en-IN" smtClean="0"/>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2">
                <a:duotone>
                  <a:schemeClr val="accent1">
                    <a:shade val="45000"/>
                    <a:satMod val="135000"/>
                  </a:schemeClr>
                  <a:prstClr val="white"/>
                </a:duotone>
                <a:extLst>
                  <a:ext uri="{BEBA8EAE-BF5A-486C-A8C5-ECC9F3942E4B}">
                    <a14:imgProps xmlns:a14="http://schemas.microsoft.com/office/drawing/2010/main">
                      <a14:imgLayer r:embed="rId13">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3A912DF5-0892-450B-8B08-E77B39895DDC}"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400" kern="1200" cap="all" baseline="0">
          <a:blipFill>
            <a:blip r:embed="rId1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Git &amp; GitHub</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975" y="484505"/>
            <a:ext cx="10058400" cy="932180"/>
          </a:xfrm>
        </p:spPr>
        <p:txBody>
          <a:bodyPr>
            <a:normAutofit/>
          </a:bodyPr>
          <a:lstStyle/>
          <a:p>
            <a:r>
              <a:rPr lang="en-IN" dirty="0">
                <a:solidFill>
                  <a:schemeClr val="accent2"/>
                </a:solidFill>
              </a:rPr>
              <a:t>what is git?</a:t>
            </a:r>
            <a:endParaRPr lang="en-IN" dirty="0">
              <a:solidFill>
                <a:schemeClr val="accent2"/>
              </a:solidFill>
            </a:endParaRPr>
          </a:p>
        </p:txBody>
      </p:sp>
      <p:sp>
        <p:nvSpPr>
          <p:cNvPr id="3" name="Content Placeholder 2"/>
          <p:cNvSpPr>
            <a:spLocks noGrp="1"/>
          </p:cNvSpPr>
          <p:nvPr>
            <p:ph idx="1"/>
          </p:nvPr>
        </p:nvSpPr>
        <p:spPr>
          <a:xfrm>
            <a:off x="1069975" y="1416050"/>
            <a:ext cx="10058400" cy="4756150"/>
          </a:xfrm>
        </p:spPr>
        <p:txBody>
          <a:bodyPr>
            <a:normAutofit fontScale="90000" lnSpcReduction="10000"/>
          </a:bodyPr>
          <a:lstStyle/>
          <a:p>
            <a:pPr algn="just">
              <a:buFont typeface="Arial" panose="020B0604020202020204" pitchFamily="34" charset="0"/>
              <a:buChar char="•"/>
            </a:pPr>
            <a:r>
              <a:rPr sz="2400">
                <a:latin typeface="Times New Roman" panose="02020603050405020304" charset="0"/>
                <a:cs typeface="Times New Roman" panose="02020603050405020304" charset="0"/>
                <a:sym typeface="+mn-ea"/>
              </a:rPr>
              <a:t>Git is a Distributed Version Control System (DVCS), developed by Linus Torvalds in 2005. It tracks changes, allows collaboration, works offline, and stores full history.</a:t>
            </a:r>
            <a:endParaRPr sz="2400">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You can go back to previous versions, see who changed what, and work with others without overwriting each other's changes.</a:t>
            </a:r>
            <a:endParaRPr lang="en-US" altLang="en-US" sz="2400">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It runs locally on your machine (you don’t need the internet to use basic Git features).</a:t>
            </a:r>
            <a:endParaRPr lang="en-US" altLang="en-US" sz="2400">
              <a:latin typeface="Times New Roman" panose="02020603050405020304" charset="0"/>
              <a:cs typeface="Times New Roman" panose="02020603050405020304" charset="0"/>
              <a:sym typeface="+mn-ea"/>
            </a:endParaRPr>
          </a:p>
          <a:p>
            <a:pPr marL="0" indent="0" algn="just">
              <a:buNone/>
            </a:pPr>
            <a:r>
              <a:rPr lang="en-IN" sz="2400" b="1">
                <a:solidFill>
                  <a:schemeClr val="accent2"/>
                </a:solidFill>
                <a:latin typeface="Times New Roman" panose="02020603050405020304" charset="0"/>
                <a:cs typeface="Times New Roman" panose="02020603050405020304" charset="0"/>
                <a:sym typeface="+mn-ea"/>
              </a:rPr>
              <a:t>What are the uses of Git?</a:t>
            </a:r>
            <a:endParaRPr lang="en-IN" sz="2400" b="1">
              <a:solidFill>
                <a:schemeClr val="accent2"/>
              </a:solidFill>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sz="2400">
                <a:latin typeface="Times New Roman" panose="02020603050405020304" charset="0"/>
                <a:cs typeface="Times New Roman" panose="02020603050405020304" charset="0"/>
                <a:sym typeface="+mn-ea"/>
              </a:rPr>
              <a:t>Maintain version history</a:t>
            </a:r>
            <a:endParaRPr sz="2400">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sz="2400">
                <a:latin typeface="Times New Roman" panose="02020603050405020304" charset="0"/>
                <a:cs typeface="Times New Roman" panose="02020603050405020304" charset="0"/>
                <a:sym typeface="+mn-ea"/>
              </a:rPr>
              <a:t>Work on features without affecting main code</a:t>
            </a:r>
            <a:endParaRPr sz="2400">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sz="2400">
                <a:latin typeface="Times New Roman" panose="02020603050405020304" charset="0"/>
                <a:cs typeface="Times New Roman" panose="02020603050405020304" charset="0"/>
                <a:sym typeface="+mn-ea"/>
              </a:rPr>
              <a:t>Collaborate with teams</a:t>
            </a:r>
            <a:endParaRPr sz="2400">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sz="2400">
                <a:latin typeface="Times New Roman" panose="02020603050405020304" charset="0"/>
                <a:cs typeface="Times New Roman" panose="02020603050405020304" charset="0"/>
                <a:sym typeface="+mn-ea"/>
              </a:rPr>
              <a:t>Revert to previous versions</a:t>
            </a:r>
            <a:endParaRPr sz="2400">
              <a:latin typeface="Times New Roman" panose="02020603050405020304" charset="0"/>
              <a:cs typeface="Times New Roman" panose="02020603050405020304" charset="0"/>
              <a:sym typeface="+mn-ea"/>
            </a:endParaRPr>
          </a:p>
          <a:p>
            <a:pPr algn="just">
              <a:buFont typeface="Arial" panose="020B0604020202020204" pitchFamily="34" charset="0"/>
              <a:buChar char="•"/>
            </a:pPr>
            <a:r>
              <a:rPr sz="2400">
                <a:latin typeface="Times New Roman" panose="02020603050405020304" charset="0"/>
                <a:cs typeface="Times New Roman" panose="02020603050405020304" charset="0"/>
                <a:sym typeface="+mn-ea"/>
              </a:rPr>
              <a:t>Merge contributions</a:t>
            </a:r>
            <a:endParaRPr sz="2400">
              <a:latin typeface="Times New Roman" panose="02020603050405020304" charset="0"/>
              <a:cs typeface="Times New Roman" panose="02020603050405020304" charset="0"/>
              <a:sym typeface="+mn-ea"/>
            </a:endParaRPr>
          </a:p>
          <a:p>
            <a:pPr marL="0" indent="0" algn="just">
              <a:buNone/>
            </a:pPr>
            <a:r>
              <a:rPr lang="en-IN" sz="2400">
                <a:latin typeface="Times New Roman" panose="02020603050405020304" charset="0"/>
                <a:cs typeface="Times New Roman" panose="02020603050405020304" charset="0"/>
                <a:sym typeface="+mn-ea"/>
              </a:rPr>
              <a:t> </a:t>
            </a:r>
            <a:endParaRPr sz="2400">
              <a:latin typeface="Times New Roman" panose="02020603050405020304" charset="0"/>
              <a:cs typeface="Times New Roman" panose="02020603050405020304" charset="0"/>
              <a:sym typeface="+mn-ea"/>
            </a:endParaRPr>
          </a:p>
          <a:p>
            <a:pPr marL="0" indent="0" algn="just">
              <a:buNone/>
            </a:pPr>
            <a:endParaRPr lang="en-IN" sz="2400">
              <a:latin typeface="Times New Roman" panose="02020603050405020304" charset="0"/>
              <a:cs typeface="Times New Roman" panose="02020603050405020304" charset="0"/>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50595"/>
          </a:xfrm>
        </p:spPr>
        <p:txBody>
          <a:bodyPr>
            <a:normAutofit/>
          </a:bodyPr>
          <a:p>
            <a:r>
              <a:rPr lang="en-IN" altLang="en-US">
                <a:solidFill>
                  <a:schemeClr val="accent2"/>
                </a:solidFill>
              </a:rPr>
              <a:t>git concepts</a:t>
            </a:r>
            <a:endParaRPr lang="en-IN" altLang="en-US">
              <a:solidFill>
                <a:schemeClr val="accent2"/>
              </a:solidFill>
            </a:endParaRPr>
          </a:p>
        </p:txBody>
      </p:sp>
      <p:sp>
        <p:nvSpPr>
          <p:cNvPr id="3" name="Content Placeholder 2"/>
          <p:cNvSpPr>
            <a:spLocks noGrp="1"/>
          </p:cNvSpPr>
          <p:nvPr>
            <p:ph idx="1"/>
          </p:nvPr>
        </p:nvSpPr>
        <p:spPr>
          <a:xfrm>
            <a:off x="1069975" y="1435735"/>
            <a:ext cx="10058400" cy="4736465"/>
          </a:xfrm>
        </p:spPr>
        <p:txBody>
          <a:bodyPr/>
          <a:p>
            <a:pPr marL="457200" indent="-457200">
              <a:buFont typeface="+mj-lt"/>
              <a:buAutoNum type="arabicPeriod"/>
            </a:pPr>
            <a:r>
              <a:rPr sz="2400">
                <a:latin typeface="Times New Roman" panose="02020603050405020304" charset="0"/>
                <a:cs typeface="Times New Roman" panose="02020603050405020304" charset="0"/>
                <a:sym typeface="+mn-ea"/>
              </a:rPr>
              <a:t>Repository (Repo): Project folder tracked by Git</a:t>
            </a:r>
            <a:endParaRPr sz="2400">
              <a:latin typeface="Times New Roman" panose="02020603050405020304" charset="0"/>
              <a:cs typeface="Times New Roman" panose="02020603050405020304" charset="0"/>
              <a:sym typeface="+mn-ea"/>
            </a:endParaRPr>
          </a:p>
          <a:p>
            <a:pPr marL="457200" indent="-457200">
              <a:buFont typeface="+mj-lt"/>
              <a:buAutoNum type="arabicPeriod"/>
            </a:pPr>
            <a:r>
              <a:rPr sz="2400">
                <a:latin typeface="Times New Roman" panose="02020603050405020304" charset="0"/>
                <a:cs typeface="Times New Roman" panose="02020603050405020304" charset="0"/>
                <a:sym typeface="+mn-ea"/>
              </a:rPr>
              <a:t>Commit: Snapshot of code changes</a:t>
            </a:r>
            <a:endParaRPr sz="2400">
              <a:latin typeface="Times New Roman" panose="02020603050405020304" charset="0"/>
              <a:cs typeface="Times New Roman" panose="02020603050405020304" charset="0"/>
              <a:sym typeface="+mn-ea"/>
            </a:endParaRPr>
          </a:p>
          <a:p>
            <a:pPr marL="457200" indent="-457200">
              <a:buFont typeface="+mj-lt"/>
              <a:buAutoNum type="arabicPeriod"/>
            </a:pPr>
            <a:r>
              <a:rPr sz="2400">
                <a:latin typeface="Times New Roman" panose="02020603050405020304" charset="0"/>
                <a:cs typeface="Times New Roman" panose="02020603050405020304" charset="0"/>
                <a:sym typeface="+mn-ea"/>
              </a:rPr>
              <a:t>Branch: Independent line of development</a:t>
            </a:r>
            <a:endParaRPr sz="2400">
              <a:latin typeface="Times New Roman" panose="02020603050405020304" charset="0"/>
              <a:cs typeface="Times New Roman" panose="02020603050405020304" charset="0"/>
              <a:sym typeface="+mn-ea"/>
            </a:endParaRPr>
          </a:p>
          <a:p>
            <a:pPr marL="457200" indent="-457200">
              <a:buFont typeface="+mj-lt"/>
              <a:buAutoNum type="arabicPeriod"/>
            </a:pPr>
            <a:r>
              <a:rPr sz="2400">
                <a:latin typeface="Times New Roman" panose="02020603050405020304" charset="0"/>
                <a:cs typeface="Times New Roman" panose="02020603050405020304" charset="0"/>
                <a:sym typeface="+mn-ea"/>
              </a:rPr>
              <a:t>Merge: Combine branches</a:t>
            </a:r>
            <a:endParaRPr sz="2400">
              <a:latin typeface="Times New Roman" panose="02020603050405020304" charset="0"/>
              <a:cs typeface="Times New Roman" panose="02020603050405020304" charset="0"/>
              <a:sym typeface="+mn-ea"/>
            </a:endParaRPr>
          </a:p>
          <a:p>
            <a:pPr marL="457200" indent="-457200">
              <a:buFont typeface="+mj-lt"/>
              <a:buAutoNum type="arabicPeriod"/>
            </a:pPr>
            <a:r>
              <a:rPr sz="2400">
                <a:latin typeface="Times New Roman" panose="02020603050405020304" charset="0"/>
                <a:cs typeface="Times New Roman" panose="02020603050405020304" charset="0"/>
                <a:sym typeface="+mn-ea"/>
              </a:rPr>
              <a:t>Clone</a:t>
            </a:r>
            <a:r>
              <a:rPr lang="en-IN"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Copy of a remote repository</a:t>
            </a:r>
            <a:r>
              <a:rPr lang="en-IN" altLang="en-US" sz="2400">
                <a:latin typeface="Times New Roman" panose="02020603050405020304" charset="0"/>
                <a:cs typeface="Times New Roman" panose="02020603050405020304" charset="0"/>
                <a:sym typeface="+mn-ea"/>
              </a:rPr>
              <a:t>.</a:t>
            </a:r>
            <a:endParaRPr lang="en-US" altLang="en-US" sz="2400">
              <a:latin typeface="Times New Roman" panose="02020603050405020304" charset="0"/>
              <a:cs typeface="Times New Roman" panose="02020603050405020304" charset="0"/>
              <a:sym typeface="+mn-ea"/>
            </a:endParaRPr>
          </a:p>
          <a:p>
            <a:pPr marL="457200" indent="-457200">
              <a:buFont typeface="+mj-lt"/>
              <a:buAutoNum type="arabicPeriod"/>
            </a:pPr>
            <a:r>
              <a:rPr sz="2400">
                <a:latin typeface="Times New Roman" panose="02020603050405020304" charset="0"/>
                <a:cs typeface="Times New Roman" panose="02020603050405020304" charset="0"/>
                <a:sym typeface="+mn-ea"/>
              </a:rPr>
              <a:t>Pull</a:t>
            </a:r>
            <a:r>
              <a:rPr lang="en-IN"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Fetch and merge changes from remote</a:t>
            </a:r>
            <a:r>
              <a:rPr lang="en-IN" altLang="en-US" sz="2400">
                <a:latin typeface="Times New Roman" panose="02020603050405020304" charset="0"/>
                <a:cs typeface="Times New Roman" panose="02020603050405020304" charset="0"/>
                <a:sym typeface="+mn-ea"/>
              </a:rPr>
              <a:t>.</a:t>
            </a:r>
            <a:endParaRPr lang="en-US" altLang="en-US" sz="2400">
              <a:latin typeface="Times New Roman" panose="02020603050405020304" charset="0"/>
              <a:cs typeface="Times New Roman" panose="02020603050405020304" charset="0"/>
              <a:sym typeface="+mn-ea"/>
            </a:endParaRPr>
          </a:p>
          <a:p>
            <a:pPr marL="457200" indent="-457200">
              <a:buFont typeface="+mj-lt"/>
              <a:buAutoNum type="arabicPeriod"/>
            </a:pPr>
            <a:r>
              <a:rPr sz="2400">
                <a:latin typeface="Times New Roman" panose="02020603050405020304" charset="0"/>
                <a:cs typeface="Times New Roman" panose="02020603050405020304" charset="0"/>
                <a:sym typeface="+mn-ea"/>
              </a:rPr>
              <a:t>Push</a:t>
            </a:r>
            <a:r>
              <a:rPr lang="en-IN" sz="2400">
                <a:latin typeface="Times New Roman" panose="02020603050405020304" charset="0"/>
                <a:cs typeface="Times New Roman" panose="02020603050405020304" charset="0"/>
                <a:sym typeface="+mn-ea"/>
              </a:rPr>
              <a:t>: </a:t>
            </a:r>
            <a:r>
              <a:rPr lang="en-US" altLang="en-US" sz="2400">
                <a:latin typeface="Times New Roman" panose="02020603050405020304" charset="0"/>
                <a:cs typeface="Times New Roman" panose="02020603050405020304" charset="0"/>
                <a:sym typeface="+mn-ea"/>
              </a:rPr>
              <a:t>Upload local commits to remote</a:t>
            </a:r>
            <a:r>
              <a:rPr lang="en-IN" altLang="en-US" sz="2400">
                <a:latin typeface="Times New Roman" panose="02020603050405020304" charset="0"/>
                <a:cs typeface="Times New Roman" panose="02020603050405020304" charset="0"/>
                <a:sym typeface="+mn-ea"/>
              </a:rPr>
              <a:t>.</a:t>
            </a:r>
            <a:endParaRPr lang="en-US" altLang="en-US" sz="2400">
              <a:latin typeface="Times New Roman" panose="02020603050405020304" charset="0"/>
              <a:cs typeface="Times New Roman" panose="02020603050405020304" charset="0"/>
              <a:sym typeface="+mn-ea"/>
            </a:endParaRPr>
          </a:p>
          <a:p>
            <a:pPr marL="0" indent="0">
              <a:buNone/>
            </a:pPr>
            <a:endParaRPr lang="en-US" sz="240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02970"/>
          </a:xfrm>
        </p:spPr>
        <p:txBody>
          <a:bodyPr/>
          <a:p>
            <a:r>
              <a:rPr lang="en-IN" altLang="en-US">
                <a:solidFill>
                  <a:schemeClr val="accent2"/>
                </a:solidFill>
              </a:rPr>
              <a:t>repository(repo)</a:t>
            </a:r>
            <a:endParaRPr lang="en-IN" altLang="en-US">
              <a:solidFill>
                <a:schemeClr val="accent2"/>
              </a:solidFill>
            </a:endParaRPr>
          </a:p>
        </p:txBody>
      </p:sp>
      <p:sp>
        <p:nvSpPr>
          <p:cNvPr id="3" name="Content Placeholder 2"/>
          <p:cNvSpPr>
            <a:spLocks noGrp="1"/>
          </p:cNvSpPr>
          <p:nvPr>
            <p:ph idx="1"/>
          </p:nvPr>
        </p:nvSpPr>
        <p:spPr>
          <a:xfrm>
            <a:off x="1069975" y="1386840"/>
            <a:ext cx="10058400" cy="4785360"/>
          </a:xfrm>
        </p:spPr>
        <p:txBody>
          <a:bodyPr>
            <a:normAutofit lnSpcReduction="10000"/>
          </a:bodyPr>
          <a:p>
            <a:pPr marL="0" indent="0" algn="just">
              <a:buNone/>
            </a:pPr>
            <a:r>
              <a:rPr lang="en-US" altLang="en-US" sz="2400">
                <a:latin typeface="Times New Roman" panose="02020603050405020304" charset="0"/>
                <a:cs typeface="Times New Roman" panose="02020603050405020304" charset="0"/>
              </a:rPr>
              <a:t>A Git repository is basically a folder (project) that Git is tracking.</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It contains:</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Your project files (like .java, .html, .txt, etc.)</a:t>
            </a:r>
            <a:endParaRPr lang="en-US" altLang="en-US" sz="2400">
              <a:latin typeface="Times New Roman" panose="02020603050405020304" charset="0"/>
              <a:cs typeface="Times New Roman" panose="02020603050405020304" charset="0"/>
            </a:endParaRPr>
          </a:p>
          <a:p>
            <a:pPr marL="342900"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A special hidden folder called .git, where Git stores all the history and changes made to your files.</a:t>
            </a:r>
            <a:endParaRPr lang="en-US" altLang="en-US" sz="2400" b="1" u="sng">
              <a:solidFill>
                <a:schemeClr val="accent2"/>
              </a:solidFill>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u="sng">
                <a:solidFill>
                  <a:schemeClr val="accent2"/>
                </a:solidFill>
                <a:latin typeface="Times New Roman" panose="02020603050405020304" charset="0"/>
                <a:cs typeface="Times New Roman" panose="02020603050405020304" charset="0"/>
              </a:rPr>
              <a:t>Types of Git Repositories:</a:t>
            </a:r>
            <a:endParaRPr lang="en-US" altLang="en-US" sz="2400" b="1" u="sng">
              <a:solidFill>
                <a:schemeClr val="accent2"/>
              </a:solidFill>
              <a:latin typeface="Times New Roman" panose="02020603050405020304" charset="0"/>
              <a:cs typeface="Times New Roman" panose="02020603050405020304" charset="0"/>
            </a:endParaRPr>
          </a:p>
          <a:p>
            <a:pPr marL="457200" indent="-457200" algn="just">
              <a:buFont typeface="Arial" panose="020B0604020202020204" pitchFamily="34" charset="0"/>
              <a:buAutoNum type="arabicPeriod"/>
            </a:pPr>
            <a:r>
              <a:rPr lang="en-US" altLang="en-US" sz="2400" b="1" u="sng">
                <a:solidFill>
                  <a:schemeClr val="tx1"/>
                </a:solidFill>
                <a:latin typeface="Times New Roman" panose="02020603050405020304" charset="0"/>
                <a:cs typeface="Times New Roman" panose="02020603050405020304" charset="0"/>
              </a:rPr>
              <a:t>Local Repository</a:t>
            </a:r>
            <a:r>
              <a:rPr lang="en-IN" altLang="en-US" sz="2400" b="1" u="sng">
                <a:solidFill>
                  <a:schemeClr val="tx1"/>
                </a:solidFill>
                <a:latin typeface="Times New Roman" panose="02020603050405020304" charset="0"/>
                <a:cs typeface="Times New Roman" panose="02020603050405020304" charset="0"/>
              </a:rPr>
              <a:t>:</a:t>
            </a:r>
            <a:endParaRPr lang="en-IN" altLang="en-US" sz="2400" b="1" u="sng">
              <a:solidFill>
                <a:schemeClr val="tx1"/>
              </a:solidFill>
              <a:latin typeface="Times New Roman" panose="02020603050405020304" charset="0"/>
              <a:cs typeface="Times New Roman" panose="02020603050405020304" charset="0"/>
            </a:endParaRPr>
          </a:p>
          <a:p>
            <a:pPr marL="914400" lvl="1" indent="-457200" algn="just">
              <a:buFont typeface="Arial" panose="020B0604020202020204" pitchFamily="34" charset="0"/>
              <a:buChar char="•"/>
            </a:pPr>
            <a:r>
              <a:rPr lang="en-US" altLang="en-US" sz="2160">
                <a:solidFill>
                  <a:schemeClr val="tx1"/>
                </a:solidFill>
                <a:latin typeface="Times New Roman" panose="02020603050405020304" charset="0"/>
                <a:cs typeface="Times New Roman" panose="02020603050405020304" charset="0"/>
              </a:rPr>
              <a:t>This lives on your computer.</a:t>
            </a:r>
            <a:endParaRPr lang="en-US" altLang="en-US" sz="2160">
              <a:solidFill>
                <a:schemeClr val="tx1"/>
              </a:solidFill>
              <a:latin typeface="Times New Roman" panose="02020603050405020304" charset="0"/>
              <a:cs typeface="Times New Roman" panose="02020603050405020304" charset="0"/>
            </a:endParaRPr>
          </a:p>
          <a:p>
            <a:pPr marL="914400" lvl="1" indent="-457200" algn="just">
              <a:buFont typeface="Arial" panose="020B0604020202020204" pitchFamily="34" charset="0"/>
              <a:buChar char="•"/>
            </a:pPr>
            <a:r>
              <a:rPr lang="en-US" altLang="en-US" sz="2160">
                <a:solidFill>
                  <a:schemeClr val="tx1"/>
                </a:solidFill>
                <a:latin typeface="Times New Roman" panose="02020603050405020304" charset="0"/>
                <a:cs typeface="Times New Roman" panose="02020603050405020304" charset="0"/>
              </a:rPr>
              <a:t> You use it with commands like git add, git commit, etc.</a:t>
            </a:r>
            <a:endParaRPr lang="en-US" altLang="en-US" sz="2160">
              <a:solidFill>
                <a:schemeClr val="tx1"/>
              </a:solidFill>
              <a:latin typeface="Times New Roman" panose="02020603050405020304" charset="0"/>
              <a:cs typeface="Times New Roman" panose="02020603050405020304" charset="0"/>
            </a:endParaRPr>
          </a:p>
          <a:p>
            <a:pPr marL="457200" indent="-457200" algn="just">
              <a:buFont typeface="Arial" panose="020B0604020202020204" pitchFamily="34" charset="0"/>
              <a:buAutoNum type="arabicPeriod"/>
            </a:pPr>
            <a:r>
              <a:rPr lang="en-US" altLang="en-US" sz="2400" b="1" u="sng">
                <a:solidFill>
                  <a:schemeClr val="tx1"/>
                </a:solidFill>
                <a:latin typeface="Times New Roman" panose="02020603050405020304" charset="0"/>
                <a:cs typeface="Times New Roman" panose="02020603050405020304" charset="0"/>
              </a:rPr>
              <a:t>Remote Repository</a:t>
            </a:r>
            <a:r>
              <a:rPr lang="en-IN" altLang="en-US" sz="2400" b="1" u="sng">
                <a:solidFill>
                  <a:schemeClr val="tx1"/>
                </a:solidFill>
                <a:latin typeface="Times New Roman" panose="02020603050405020304" charset="0"/>
                <a:cs typeface="Times New Roman" panose="02020603050405020304" charset="0"/>
              </a:rPr>
              <a:t>:</a:t>
            </a:r>
            <a:endParaRPr lang="en-US" altLang="en-US" sz="2400" b="1" u="sng">
              <a:solidFill>
                <a:schemeClr val="tx1"/>
              </a:solidFill>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IN" altLang="en-US" sz="2160">
                <a:solidFill>
                  <a:schemeClr val="tx1"/>
                </a:solidFill>
                <a:latin typeface="Times New Roman" panose="02020603050405020304" charset="0"/>
                <a:cs typeface="Times New Roman" panose="02020603050405020304" charset="0"/>
              </a:rPr>
              <a:t> </a:t>
            </a:r>
            <a:r>
              <a:rPr lang="en-US" altLang="en-US" sz="2160">
                <a:solidFill>
                  <a:schemeClr val="tx1"/>
                </a:solidFill>
                <a:latin typeface="Times New Roman" panose="02020603050405020304" charset="0"/>
                <a:cs typeface="Times New Roman" panose="02020603050405020304" charset="0"/>
              </a:rPr>
              <a:t>This lives on a server, like GitHub, GitLab, or Bitbucket.</a:t>
            </a:r>
            <a:endParaRPr lang="en-US" altLang="en-US" sz="2160">
              <a:solidFill>
                <a:schemeClr val="tx1"/>
              </a:solidFill>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IN" altLang="en-US" sz="2160">
                <a:solidFill>
                  <a:schemeClr val="tx1"/>
                </a:solidFill>
                <a:latin typeface="Times New Roman" panose="02020603050405020304" charset="0"/>
                <a:cs typeface="Times New Roman" panose="02020603050405020304" charset="0"/>
              </a:rPr>
              <a:t> </a:t>
            </a:r>
            <a:r>
              <a:rPr lang="en-US" altLang="en-US" sz="2160">
                <a:solidFill>
                  <a:schemeClr val="tx1"/>
                </a:solidFill>
                <a:latin typeface="Times New Roman" panose="02020603050405020304" charset="0"/>
                <a:cs typeface="Times New Roman" panose="02020603050405020304" charset="0"/>
              </a:rPr>
              <a:t>You push your code to it using git push and pull changes with git pull.</a:t>
            </a:r>
            <a:endParaRPr lang="en-US" altLang="en-US" sz="216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0" indent="0">
              <a:buNone/>
            </a:pPr>
            <a:r>
              <a:rPr lang="en-US" altLang="en-US" sz="2400" b="1" u="sng">
                <a:solidFill>
                  <a:schemeClr val="accent2"/>
                </a:solidFill>
                <a:latin typeface="Times New Roman" panose="02020603050405020304" charset="0"/>
                <a:cs typeface="Times New Roman" panose="02020603050405020304" charset="0"/>
              </a:rPr>
              <a:t>Workflow Example:</a:t>
            </a:r>
            <a:endParaRPr lang="en-US" altLang="en-US" sz="2400" b="1" u="sng">
              <a:solidFill>
                <a:schemeClr val="accent2"/>
              </a:solidFill>
              <a:latin typeface="Times New Roman" panose="02020603050405020304" charset="0"/>
              <a:cs typeface="Times New Roman" panose="02020603050405020304" charset="0"/>
            </a:endParaRPr>
          </a:p>
          <a:p>
            <a:pPr marL="457200" indent="-457200">
              <a:buAutoNum type="arabicPeriod"/>
            </a:pPr>
            <a:r>
              <a:rPr lang="en-US" altLang="en-US" sz="2400">
                <a:solidFill>
                  <a:schemeClr val="tx1"/>
                </a:solidFill>
                <a:latin typeface="Times New Roman" panose="02020603050405020304" charset="0"/>
                <a:cs typeface="Times New Roman" panose="02020603050405020304" charset="0"/>
              </a:rPr>
              <a:t>You create a folder → MyProject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AutoNum type="arabicPeriod"/>
            </a:pPr>
            <a:r>
              <a:rPr lang="en-US" altLang="en-US" sz="2400">
                <a:solidFill>
                  <a:schemeClr val="tx1"/>
                </a:solidFill>
                <a:latin typeface="Times New Roman" panose="02020603050405020304" charset="0"/>
                <a:cs typeface="Times New Roman" panose="02020603050405020304" charset="0"/>
              </a:rPr>
              <a:t>You run git init → Now it's a Git repository</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AutoNum type="arabicPeriod"/>
            </a:pPr>
            <a:r>
              <a:rPr lang="en-US" altLang="en-US" sz="2400">
                <a:solidFill>
                  <a:schemeClr val="tx1"/>
                </a:solidFill>
                <a:latin typeface="Times New Roman" panose="02020603050405020304" charset="0"/>
                <a:cs typeface="Times New Roman" panose="02020603050405020304" charset="0"/>
              </a:rPr>
              <a:t>You make some changes to Main.java</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AutoNum type="arabicPeriod"/>
            </a:pPr>
            <a:r>
              <a:rPr lang="en-US" altLang="en-US" sz="2400">
                <a:solidFill>
                  <a:schemeClr val="tx1"/>
                </a:solidFill>
                <a:latin typeface="Times New Roman" panose="02020603050405020304" charset="0"/>
                <a:cs typeface="Times New Roman" panose="02020603050405020304" charset="0"/>
              </a:rPr>
              <a:t>You run git add Main.java → Git stages the file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AutoNum type="arabicPeriod"/>
            </a:pPr>
            <a:r>
              <a:rPr lang="en-US" altLang="en-US" sz="2400">
                <a:solidFill>
                  <a:schemeClr val="tx1"/>
                </a:solidFill>
                <a:latin typeface="Times New Roman" panose="02020603050405020304" charset="0"/>
                <a:cs typeface="Times New Roman" panose="02020603050405020304" charset="0"/>
              </a:rPr>
              <a:t>You run git commit -m "Add main logic" → Git saves a snapshot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AutoNum type="arabicPeriod"/>
            </a:pPr>
            <a:r>
              <a:rPr lang="en-US" altLang="en-US" sz="2400">
                <a:solidFill>
                  <a:schemeClr val="tx1"/>
                </a:solidFill>
                <a:latin typeface="Times New Roman" panose="02020603050405020304" charset="0"/>
                <a:cs typeface="Times New Roman" panose="02020603050405020304" charset="0"/>
              </a:rPr>
              <a:t>You push it to GitHub with git push → It's now backed up online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49325"/>
          </a:xfrm>
        </p:spPr>
        <p:txBody>
          <a:bodyPr/>
          <a:p>
            <a:r>
              <a:rPr lang="en-IN" altLang="en-US">
                <a:solidFill>
                  <a:schemeClr val="accent2"/>
                </a:solidFill>
              </a:rPr>
              <a:t>what is a commit in git?</a:t>
            </a:r>
            <a:endParaRPr lang="en-IN" altLang="en-US">
              <a:solidFill>
                <a:schemeClr val="accent2"/>
              </a:solidFill>
            </a:endParaRPr>
          </a:p>
        </p:txBody>
      </p:sp>
      <p:sp>
        <p:nvSpPr>
          <p:cNvPr id="3" name="Content Placeholder 2"/>
          <p:cNvSpPr>
            <a:spLocks noGrp="1"/>
          </p:cNvSpPr>
          <p:nvPr>
            <p:ph idx="1"/>
          </p:nvPr>
        </p:nvSpPr>
        <p:spPr>
          <a:xfrm>
            <a:off x="1069975" y="1433830"/>
            <a:ext cx="10058400" cy="4738370"/>
          </a:xfrm>
        </p:spPr>
        <p:txBody>
          <a:bodyPr>
            <a:normAutofit lnSpcReduction="10000"/>
          </a:bodyPr>
          <a:p>
            <a:pPr marL="0" indent="0" algn="just">
              <a:buNone/>
            </a:pPr>
            <a:r>
              <a:rPr lang="en-US" altLang="en-US" sz="2400">
                <a:latin typeface="Times New Roman" panose="02020603050405020304" charset="0"/>
                <a:cs typeface="Times New Roman" panose="02020603050405020304" charset="0"/>
              </a:rPr>
              <a:t>A commit in Git is like taking a snapshot of your project at a certain point in time. It saves the current state of your files so you can:</a:t>
            </a:r>
            <a:endParaRPr lang="en-US" altLang="en-US" sz="2400">
              <a:latin typeface="Times New Roman" panose="02020603050405020304" charset="0"/>
              <a:cs typeface="Times New Roman" panose="02020603050405020304" charset="0"/>
            </a:endParaRPr>
          </a:p>
          <a:p>
            <a:pPr marL="0" indent="457200" algn="just">
              <a:buNone/>
            </a:pPr>
            <a:r>
              <a:rPr lang="en-US" altLang="en-US" sz="2400">
                <a:latin typeface="Times New Roman" panose="02020603050405020304" charset="0"/>
                <a:cs typeface="Times New Roman" panose="02020603050405020304" charset="0"/>
              </a:rPr>
              <a:t>Track changes</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Revert to previous versions</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Collaborate with others without lo</a:t>
            </a:r>
            <a:r>
              <a:rPr lang="en-IN" altLang="en-US" sz="2400">
                <a:latin typeface="Times New Roman" panose="02020603050405020304" charset="0"/>
                <a:cs typeface="Times New Roman" panose="02020603050405020304" charset="0"/>
              </a:rPr>
              <a:t>o</a:t>
            </a:r>
            <a:r>
              <a:rPr lang="en-US" altLang="en-US" sz="2400">
                <a:latin typeface="Times New Roman" panose="02020603050405020304" charset="0"/>
                <a:cs typeface="Times New Roman" panose="02020603050405020304" charset="0"/>
              </a:rPr>
              <a:t>sing work</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0" lvl="0" indent="0" algn="just">
              <a:buFont typeface="Arial" panose="020B0604020202020204" pitchFamily="34" charset="0"/>
              <a:buNone/>
            </a:pPr>
            <a:r>
              <a:rPr lang="en-US" altLang="en-US" sz="2400" b="1" u="sng">
                <a:solidFill>
                  <a:schemeClr val="accent2"/>
                </a:solidFill>
                <a:latin typeface="Times New Roman" panose="02020603050405020304" charset="0"/>
                <a:cs typeface="Times New Roman" panose="02020603050405020304" charset="0"/>
              </a:rPr>
              <a:t>Technical Definition:</a:t>
            </a:r>
            <a:r>
              <a:rPr lang="en-US" altLang="en-US" sz="2400">
                <a:solidFill>
                  <a:schemeClr val="accent2"/>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A commit records the staged changes (files you've added using git add) into the repository history, along with:</a:t>
            </a:r>
            <a:endParaRPr lang="en-US" altLang="en-US" sz="2400">
              <a:solidFill>
                <a:schemeClr val="tx1"/>
              </a:solidFill>
              <a:latin typeface="Times New Roman" panose="02020603050405020304" charset="0"/>
              <a:cs typeface="Times New Roman" panose="02020603050405020304" charset="0"/>
            </a:endParaRPr>
          </a:p>
          <a:p>
            <a:pPr lvl="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A commit message (description of the change)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lvl="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A unique ID (SHA hash)</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lvl="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The author’s name and email</a:t>
            </a:r>
            <a:endParaRPr lang="en-US" altLang="en-US" sz="2400">
              <a:solidFill>
                <a:schemeClr val="tx1"/>
              </a:solidFill>
              <a:latin typeface="Times New Roman" panose="02020603050405020304" charset="0"/>
              <a:cs typeface="Times New Roman" panose="02020603050405020304" charset="0"/>
            </a:endParaRPr>
          </a:p>
          <a:p>
            <a:pPr lvl="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A timestamp</a:t>
            </a: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0" indent="0">
              <a:buNone/>
            </a:pPr>
            <a:r>
              <a:rPr lang="en-US" altLang="en-US" sz="2400" b="1" u="sng">
                <a:solidFill>
                  <a:schemeClr val="accent2"/>
                </a:solidFill>
                <a:latin typeface="Times New Roman" panose="02020603050405020304" charset="0"/>
                <a:cs typeface="Times New Roman" panose="02020603050405020304" charset="0"/>
              </a:rPr>
              <a:t>How It Works</a:t>
            </a:r>
            <a:endParaRPr lang="en-US" altLang="en-US" sz="2400" b="1" u="sng">
              <a:solidFill>
                <a:schemeClr val="accent2"/>
              </a:solidFill>
              <a:latin typeface="Times New Roman" panose="02020603050405020304" charset="0"/>
              <a:cs typeface="Times New Roman" panose="02020603050405020304" charset="0"/>
            </a:endParaRPr>
          </a:p>
          <a:p>
            <a:pPr marL="0" indent="0">
              <a:buNone/>
            </a:pPr>
            <a:r>
              <a:rPr lang="en-US" altLang="en-US" sz="2400">
                <a:solidFill>
                  <a:schemeClr val="tx1"/>
                </a:solidFill>
                <a:latin typeface="Times New Roman" panose="02020603050405020304" charset="0"/>
                <a:cs typeface="Times New Roman" panose="02020603050405020304" charset="0"/>
              </a:rPr>
              <a:t>git add file.txt          # Stage the file</a:t>
            </a:r>
            <a:endParaRPr lang="en-US" altLang="en-US" sz="2400">
              <a:solidFill>
                <a:schemeClr val="tx1"/>
              </a:solidFill>
              <a:latin typeface="Times New Roman" panose="02020603050405020304" charset="0"/>
              <a:cs typeface="Times New Roman" panose="02020603050405020304" charset="0"/>
            </a:endParaRPr>
          </a:p>
          <a:p>
            <a:pPr marL="0" indent="0">
              <a:buNone/>
            </a:pPr>
            <a:r>
              <a:rPr lang="en-US" altLang="en-US" sz="2400">
                <a:solidFill>
                  <a:schemeClr val="tx1"/>
                </a:solidFill>
                <a:latin typeface="Times New Roman" panose="02020603050405020304" charset="0"/>
                <a:cs typeface="Times New Roman" panose="02020603050405020304" charset="0"/>
              </a:rPr>
              <a:t>git commit -m "Add file.txt with initial content"  # Commit it</a:t>
            </a:r>
            <a:endParaRPr lang="en-US" altLang="en-US" sz="2400">
              <a:solidFill>
                <a:schemeClr val="tx1"/>
              </a:solidFill>
              <a:latin typeface="Times New Roman" panose="02020603050405020304" charset="0"/>
              <a:cs typeface="Times New Roman" panose="02020603050405020304" charset="0"/>
            </a:endParaRPr>
          </a:p>
          <a:p>
            <a:pPr marL="0" indent="0">
              <a:buNone/>
            </a:pPr>
            <a:endParaRPr lang="en-US" altLang="en-US" sz="2400">
              <a:solidFill>
                <a:schemeClr val="tx1"/>
              </a:solidFill>
              <a:latin typeface="Times New Roman" panose="02020603050405020304" charset="0"/>
              <a:cs typeface="Times New Roman" panose="02020603050405020304" charset="0"/>
            </a:endParaRPr>
          </a:p>
          <a:p>
            <a:pPr marL="0" indent="0">
              <a:buNone/>
            </a:pPr>
            <a:r>
              <a:rPr lang="en-US" altLang="en-US" sz="2400" u="sng">
                <a:solidFill>
                  <a:schemeClr val="tx1"/>
                </a:solidFill>
                <a:latin typeface="Times New Roman" panose="02020603050405020304" charset="0"/>
                <a:cs typeface="Times New Roman" panose="02020603050405020304" charset="0"/>
              </a:rPr>
              <a:t>After this, Git:</a:t>
            </a:r>
            <a:endParaRPr lang="en-US" altLang="en-US" sz="2400" u="sng">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It s</a:t>
            </a:r>
            <a:r>
              <a:rPr lang="en-US" altLang="en-US" sz="2400">
                <a:solidFill>
                  <a:schemeClr val="tx1"/>
                </a:solidFill>
                <a:latin typeface="Times New Roman" panose="02020603050405020304" charset="0"/>
                <a:cs typeface="Times New Roman" panose="02020603050405020304" charset="0"/>
              </a:rPr>
              <a:t>tores the file’s version</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It  s</a:t>
            </a:r>
            <a:r>
              <a:rPr lang="en-US" altLang="en-US" sz="2400">
                <a:solidFill>
                  <a:schemeClr val="tx1"/>
                </a:solidFill>
                <a:latin typeface="Times New Roman" panose="02020603050405020304" charset="0"/>
                <a:cs typeface="Times New Roman" panose="02020603050405020304" charset="0"/>
              </a:rPr>
              <a:t>aves the commit info in history</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And m</a:t>
            </a:r>
            <a:r>
              <a:rPr lang="en-US" altLang="en-US" sz="2400">
                <a:solidFill>
                  <a:schemeClr val="tx1"/>
                </a:solidFill>
                <a:latin typeface="Times New Roman" panose="02020603050405020304" charset="0"/>
                <a:cs typeface="Times New Roman" panose="02020603050405020304" charset="0"/>
              </a:rPr>
              <a:t>oves HEAD (the current pointer) to the new commit</a:t>
            </a: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1026795"/>
          </a:xfrm>
        </p:spPr>
        <p:txBody>
          <a:bodyPr/>
          <a:p>
            <a:r>
              <a:rPr lang="en-US" altLang="en-US">
                <a:solidFill>
                  <a:schemeClr val="accent2"/>
                </a:solidFill>
              </a:rPr>
              <a:t>What is a Branch in Git?</a:t>
            </a:r>
            <a:endParaRPr lang="en-US" altLang="en-US">
              <a:solidFill>
                <a:schemeClr val="accent2"/>
              </a:solidFill>
            </a:endParaRPr>
          </a:p>
        </p:txBody>
      </p:sp>
      <p:sp>
        <p:nvSpPr>
          <p:cNvPr id="3" name="Content Placeholder 2"/>
          <p:cNvSpPr>
            <a:spLocks noGrp="1"/>
          </p:cNvSpPr>
          <p:nvPr>
            <p:ph idx="1"/>
          </p:nvPr>
        </p:nvSpPr>
        <p:spPr>
          <a:xfrm>
            <a:off x="1069975" y="1511300"/>
            <a:ext cx="10058400" cy="4660900"/>
          </a:xfrm>
        </p:spPr>
        <p:txBody>
          <a:bodyPr/>
          <a:p>
            <a:pPr marL="0" indent="0" algn="just">
              <a:buNone/>
            </a:pPr>
            <a:r>
              <a:rPr lang="en-US" altLang="en-US" sz="2400">
                <a:latin typeface="Times New Roman" panose="02020603050405020304" charset="0"/>
                <a:cs typeface="Times New Roman" panose="02020603050405020304" charset="0"/>
              </a:rPr>
              <a:t>A branch in Git is like a parallel version of your codebase. It lets you work on new features, fixes, or experiments without affecting the main (usually stable) code.</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A copy of your project where you can make changes freely, and later merge them back.</a:t>
            </a:r>
            <a:endParaRPr lang="en-US" altLang="en-US" sz="2400">
              <a:latin typeface="Times New Roman" panose="02020603050405020304" charset="0"/>
              <a:cs typeface="Times New Roman" panose="02020603050405020304" charset="0"/>
            </a:endParaRPr>
          </a:p>
          <a:p>
            <a:pPr marL="0" indent="0" algn="just">
              <a:buNone/>
            </a:pPr>
            <a:r>
              <a:rPr lang="en-US" altLang="en-US" sz="2400" b="1" u="sng">
                <a:solidFill>
                  <a:schemeClr val="accent2"/>
                </a:solidFill>
                <a:latin typeface="Times New Roman" panose="02020603050405020304" charset="0"/>
                <a:cs typeface="Times New Roman" panose="02020603050405020304" charset="0"/>
              </a:rPr>
              <a:t>Why Branches Are Useful:</a:t>
            </a:r>
            <a:endParaRPr lang="en-US" altLang="en-US" sz="2400" b="1" u="sng">
              <a:solidFill>
                <a:schemeClr val="accent2"/>
              </a:solidFill>
              <a:latin typeface="Times New Roman" panose="02020603050405020304" charset="0"/>
              <a:cs typeface="Times New Roman" panose="02020603050405020304" charset="0"/>
            </a:endParaRPr>
          </a:p>
          <a:p>
            <a:pPr marL="0" indent="0" algn="just">
              <a:buNone/>
            </a:pPr>
            <a:r>
              <a:rPr lang="en-US" altLang="en-US" sz="2400">
                <a:solidFill>
                  <a:schemeClr val="tx1"/>
                </a:solidFill>
                <a:latin typeface="Times New Roman" panose="02020603050405020304" charset="0"/>
                <a:cs typeface="Times New Roman" panose="02020603050405020304" charset="0"/>
              </a:rPr>
              <a:t>Isolate features or bug fixes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0" indent="0" algn="just">
              <a:buNone/>
            </a:pPr>
            <a:r>
              <a:rPr lang="en-US" altLang="en-US" sz="2400">
                <a:solidFill>
                  <a:schemeClr val="tx1"/>
                </a:solidFill>
                <a:latin typeface="Times New Roman" panose="02020603050405020304" charset="0"/>
                <a:cs typeface="Times New Roman" panose="02020603050405020304" charset="0"/>
              </a:rPr>
              <a:t>Avoid conflicts with others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0" indent="0" algn="just">
              <a:buNone/>
            </a:pPr>
            <a:r>
              <a:rPr lang="en-US" altLang="en-US" sz="2400">
                <a:solidFill>
                  <a:schemeClr val="tx1"/>
                </a:solidFill>
                <a:latin typeface="Times New Roman" panose="02020603050405020304" charset="0"/>
                <a:cs typeface="Times New Roman" panose="02020603050405020304" charset="0"/>
              </a:rPr>
              <a:t>Test ideas safely</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0" indent="0" algn="just">
              <a:buNone/>
            </a:pPr>
            <a:r>
              <a:rPr lang="en-US" altLang="en-US" sz="2400">
                <a:solidFill>
                  <a:schemeClr val="tx1"/>
                </a:solidFill>
                <a:latin typeface="Times New Roman" panose="02020603050405020304" charset="0"/>
                <a:cs typeface="Times New Roman" panose="02020603050405020304" charset="0"/>
              </a:rPr>
              <a:t>Collaborate efficiently on large projects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0" indent="0">
              <a:buNone/>
            </a:pPr>
            <a:r>
              <a:rPr lang="en-US" altLang="en-US" sz="2400" b="1" u="sng">
                <a:solidFill>
                  <a:schemeClr val="accent2"/>
                </a:solidFill>
                <a:latin typeface="Times New Roman" panose="02020603050405020304" charset="0"/>
                <a:cs typeface="Times New Roman" panose="02020603050405020304" charset="0"/>
              </a:rPr>
              <a:t>Git Branch Structure:</a:t>
            </a:r>
            <a:endParaRPr lang="en-US" altLang="en-US" sz="2400" b="1" u="sng">
              <a:solidFill>
                <a:schemeClr val="accent2"/>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The default branch is usually called main or master</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You can create new branches like:</a:t>
            </a:r>
            <a:endParaRPr lang="en-US"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feature/login-page</a:t>
            </a:r>
            <a:endParaRPr lang="en-US"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bugfix/signup-error</a:t>
            </a:r>
            <a:endParaRPr lang="en-US"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experiment/theme-redesign</a:t>
            </a:r>
            <a:endParaRPr lang="en-US" altLang="en-US" sz="2400">
              <a:solidFill>
                <a:schemeClr val="tx1"/>
              </a:solidFill>
              <a:latin typeface="Times New Roman" panose="02020603050405020304" charset="0"/>
              <a:cs typeface="Times New Roman" panose="02020603050405020304" charset="0"/>
            </a:endParaRPr>
          </a:p>
          <a:p>
            <a:pPr marL="0" lvl="0" indent="0">
              <a:buFont typeface="Arial" panose="020B0604020202020204" pitchFamily="34" charset="0"/>
              <a:buNone/>
            </a:pPr>
            <a:r>
              <a:rPr lang="en-US" altLang="en-US" sz="2400" b="1" u="sng">
                <a:solidFill>
                  <a:schemeClr val="accent2"/>
                </a:solidFill>
                <a:latin typeface="Times New Roman" panose="02020603050405020304" charset="0"/>
                <a:cs typeface="Times New Roman" panose="02020603050405020304" charset="0"/>
              </a:rPr>
              <a:t>Common Branch Commands:</a:t>
            </a:r>
            <a:endParaRPr lang="en-US" altLang="en-US" sz="2400" b="1" u="sng">
              <a:solidFill>
                <a:schemeClr val="accent2"/>
              </a:solidFill>
              <a:latin typeface="Times New Roman" panose="02020603050405020304" charset="0"/>
              <a:cs typeface="Times New Roman" panose="02020603050405020304" charset="0"/>
            </a:endParaRPr>
          </a:p>
          <a:p>
            <a:pPr marL="0" lvl="0" indent="0">
              <a:buFont typeface="Arial" panose="020B0604020202020204" pitchFamily="34" charset="0"/>
              <a:buNone/>
            </a:pPr>
            <a:r>
              <a:rPr lang="en-US" altLang="en-US" sz="2400">
                <a:solidFill>
                  <a:schemeClr val="tx1"/>
                </a:solidFill>
                <a:latin typeface="Times New Roman" panose="02020603050405020304" charset="0"/>
                <a:cs typeface="Times New Roman" panose="02020603050405020304" charset="0"/>
              </a:rPr>
              <a:t>git branch                # List all branches</a:t>
            </a:r>
            <a:endParaRPr lang="en-US" altLang="en-US" sz="2400">
              <a:solidFill>
                <a:schemeClr val="tx1"/>
              </a:solidFill>
              <a:latin typeface="Times New Roman" panose="02020603050405020304" charset="0"/>
              <a:cs typeface="Times New Roman" panose="02020603050405020304" charset="0"/>
            </a:endParaRPr>
          </a:p>
          <a:p>
            <a:pPr marL="0" lvl="0" indent="0">
              <a:buFont typeface="Arial" panose="020B0604020202020204" pitchFamily="34" charset="0"/>
              <a:buNone/>
            </a:pPr>
            <a:r>
              <a:rPr lang="en-US" altLang="en-US" sz="2400">
                <a:solidFill>
                  <a:schemeClr val="tx1"/>
                </a:solidFill>
                <a:latin typeface="Times New Roman" panose="02020603050405020304" charset="0"/>
                <a:cs typeface="Times New Roman" panose="02020603050405020304" charset="0"/>
              </a:rPr>
              <a:t>git branch new-feature   # Create a new branch</a:t>
            </a:r>
            <a:endParaRPr lang="en-US" altLang="en-US" sz="2400">
              <a:solidFill>
                <a:schemeClr val="tx1"/>
              </a:solidFill>
              <a:latin typeface="Times New Roman" panose="02020603050405020304" charset="0"/>
              <a:cs typeface="Times New Roman" panose="02020603050405020304" charset="0"/>
            </a:endParaRPr>
          </a:p>
          <a:p>
            <a:pPr marL="0" lvl="0" indent="0">
              <a:buFont typeface="Arial" panose="020B0604020202020204" pitchFamily="34" charset="0"/>
              <a:buNone/>
            </a:pPr>
            <a:r>
              <a:rPr lang="en-US" altLang="en-US" sz="2400">
                <a:solidFill>
                  <a:schemeClr val="tx1"/>
                </a:solidFill>
                <a:latin typeface="Times New Roman" panose="02020603050405020304" charset="0"/>
                <a:cs typeface="Times New Roman" panose="02020603050405020304" charset="0"/>
              </a:rPr>
              <a:t>git checkout new-feature # Switch to that branch</a:t>
            </a:r>
            <a:endParaRPr lang="en-US" altLang="en-US" sz="2400">
              <a:solidFill>
                <a:schemeClr val="tx1"/>
              </a:solidFill>
              <a:latin typeface="Times New Roman" panose="02020603050405020304" charset="0"/>
              <a:cs typeface="Times New Roman" panose="02020603050405020304" charset="0"/>
            </a:endParaRPr>
          </a:p>
          <a:p>
            <a:pPr marL="0" lvl="0" indent="0">
              <a:buFont typeface="Arial" panose="020B0604020202020204" pitchFamily="34" charset="0"/>
              <a:buNone/>
            </a:pPr>
            <a:r>
              <a:rPr lang="en-US" altLang="en-US" sz="2400">
                <a:solidFill>
                  <a:schemeClr val="tx1"/>
                </a:solidFill>
                <a:latin typeface="Times New Roman" panose="02020603050405020304" charset="0"/>
                <a:cs typeface="Times New Roman" panose="02020603050405020304" charset="0"/>
              </a:rPr>
              <a:t>git checkout -b test-ui  # Create &amp; switch in one step</a:t>
            </a:r>
            <a:endParaRPr lang="en-US" altLang="en-US" sz="2400">
              <a:solidFill>
                <a:schemeClr val="tx1"/>
              </a:solidFill>
              <a:latin typeface="Times New Roman" panose="02020603050405020304" charset="0"/>
              <a:cs typeface="Times New Roman" panose="02020603050405020304" charset="0"/>
            </a:endParaRPr>
          </a:p>
          <a:p>
            <a:pPr marL="0" lvl="0" indent="0">
              <a:buFont typeface="Arial" panose="020B0604020202020204" pitchFamily="34" charset="0"/>
              <a:buNone/>
            </a:pP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0" indent="0">
              <a:buNone/>
            </a:pPr>
            <a:r>
              <a:rPr lang="en-US" altLang="en-US" sz="2400" b="1" u="sng">
                <a:solidFill>
                  <a:schemeClr val="accent2"/>
                </a:solidFill>
                <a:latin typeface="Times New Roman" panose="02020603050405020304" charset="0"/>
                <a:cs typeface="Times New Roman" panose="02020603050405020304" charset="0"/>
              </a:rPr>
              <a:t>Merging Branches:</a:t>
            </a:r>
            <a:endParaRPr lang="en-US" altLang="en-US" sz="2400" b="1" u="sng">
              <a:solidFill>
                <a:schemeClr val="accent2"/>
              </a:solidFill>
              <a:latin typeface="Times New Roman" panose="02020603050405020304" charset="0"/>
              <a:cs typeface="Times New Roman" panose="02020603050405020304" charset="0"/>
            </a:endParaRPr>
          </a:p>
          <a:p>
            <a:pPr marL="0" indent="0">
              <a:buNone/>
            </a:pPr>
            <a:r>
              <a:rPr lang="en-US" altLang="en-US" sz="2400">
                <a:solidFill>
                  <a:schemeClr val="tx1"/>
                </a:solidFill>
                <a:latin typeface="Times New Roman" panose="02020603050405020304" charset="0"/>
                <a:cs typeface="Times New Roman" panose="02020603050405020304" charset="0"/>
              </a:rPr>
              <a:t>Once your work on a branch is done, you can merge it into another branch:</a:t>
            </a:r>
            <a:endParaRPr lang="en-US" altLang="en-US" sz="2400">
              <a:solidFill>
                <a:schemeClr val="tx1"/>
              </a:solidFill>
              <a:latin typeface="Times New Roman" panose="02020603050405020304" charset="0"/>
              <a:cs typeface="Times New Roman" panose="02020603050405020304" charset="0"/>
            </a:endParaRPr>
          </a:p>
          <a:p>
            <a:pPr marL="1371600" lvl="3" indent="0">
              <a:buNone/>
            </a:pPr>
            <a:r>
              <a:rPr lang="en-US" altLang="en-US" sz="2400">
                <a:solidFill>
                  <a:schemeClr val="tx1"/>
                </a:solidFill>
                <a:latin typeface="Times New Roman" panose="02020603050405020304" charset="0"/>
                <a:cs typeface="Times New Roman" panose="02020603050405020304" charset="0"/>
              </a:rPr>
              <a:t>git checkout main</a:t>
            </a:r>
            <a:endParaRPr lang="en-US" altLang="en-US" sz="2400">
              <a:solidFill>
                <a:schemeClr val="tx1"/>
              </a:solidFill>
              <a:latin typeface="Times New Roman" panose="02020603050405020304" charset="0"/>
              <a:cs typeface="Times New Roman" panose="02020603050405020304" charset="0"/>
            </a:endParaRPr>
          </a:p>
          <a:p>
            <a:pPr marL="1371600" lvl="3" indent="0">
              <a:buNone/>
            </a:pPr>
            <a:r>
              <a:rPr lang="en-US" altLang="en-US" sz="2400">
                <a:solidFill>
                  <a:schemeClr val="tx1"/>
                </a:solidFill>
                <a:latin typeface="Times New Roman" panose="02020603050405020304" charset="0"/>
                <a:cs typeface="Times New Roman" panose="02020603050405020304" charset="0"/>
              </a:rPr>
              <a:t>git merge new-feature</a:t>
            </a:r>
            <a:endParaRPr lang="en-US" altLang="en-US" sz="2400">
              <a:solidFill>
                <a:schemeClr val="tx1"/>
              </a:solidFill>
              <a:latin typeface="Times New Roman" panose="02020603050405020304" charset="0"/>
              <a:cs typeface="Times New Roman" panose="02020603050405020304" charset="0"/>
            </a:endParaRPr>
          </a:p>
          <a:p>
            <a:pPr marL="0" indent="0">
              <a:buNone/>
            </a:pPr>
            <a:r>
              <a:rPr lang="en-US" altLang="en-US" sz="2400">
                <a:solidFill>
                  <a:schemeClr val="tx1"/>
                </a:solidFill>
                <a:latin typeface="Times New Roman" panose="02020603050405020304" charset="0"/>
                <a:cs typeface="Times New Roman" panose="02020603050405020304" charset="0"/>
              </a:rPr>
              <a:t>This brings all changes from new-feature into main.</a:t>
            </a:r>
            <a:endParaRPr lang="en-US" altLang="en-US" sz="2400">
              <a:solidFill>
                <a:schemeClr val="tx1"/>
              </a:solidFill>
              <a:latin typeface="Times New Roman" panose="02020603050405020304" charset="0"/>
              <a:cs typeface="Times New Roman" panose="02020603050405020304" charset="0"/>
            </a:endParaRPr>
          </a:p>
          <a:p>
            <a:pPr marL="0" indent="0">
              <a:buNone/>
            </a:pPr>
            <a:endParaRPr lang="en-US" altLang="en-US" sz="2400">
              <a:solidFill>
                <a:schemeClr val="tx1"/>
              </a:solidFill>
              <a:latin typeface="Times New Roman" panose="02020603050405020304" charset="0"/>
              <a:cs typeface="Times New Roman" panose="02020603050405020304" charset="0"/>
            </a:endParaRPr>
          </a:p>
          <a:p>
            <a:pPr marL="0" indent="0">
              <a:buNone/>
            </a:pPr>
            <a:endParaRPr lang="en-US" altLang="en-US" sz="2400">
              <a:solidFill>
                <a:schemeClr val="tx1"/>
              </a:solidFill>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sym typeface="+mn-ea"/>
              </a:rPr>
              <a:t>Most commonly:</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sym typeface="+mn-ea"/>
              </a:rPr>
              <a:t>You finish working on a branch (like feature-xyz) and want to bring those changes into main → You merge it.</a:t>
            </a:r>
            <a:endParaRPr lang="en-US" altLang="en-US" sz="2400">
              <a:latin typeface="Times New Roman" panose="02020603050405020304" charset="0"/>
              <a:cs typeface="Times New Roman" panose="02020603050405020304" charset="0"/>
            </a:endParaRPr>
          </a:p>
          <a:p>
            <a:pPr marL="0" indent="0">
              <a:buNone/>
            </a:pP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65835"/>
          </a:xfrm>
        </p:spPr>
        <p:txBody>
          <a:bodyPr/>
          <a:p>
            <a:r>
              <a:rPr lang="en-US" altLang="en-US">
                <a:solidFill>
                  <a:schemeClr val="accent2"/>
                </a:solidFill>
              </a:rPr>
              <a:t>What is Merge in Git?</a:t>
            </a:r>
            <a:endParaRPr lang="en-US" altLang="en-US">
              <a:solidFill>
                <a:schemeClr val="accent2"/>
              </a:solidFill>
            </a:endParaRPr>
          </a:p>
        </p:txBody>
      </p:sp>
      <p:sp>
        <p:nvSpPr>
          <p:cNvPr id="3" name="Content Placeholder 2"/>
          <p:cNvSpPr>
            <a:spLocks noGrp="1"/>
          </p:cNvSpPr>
          <p:nvPr>
            <p:ph idx="1"/>
          </p:nvPr>
        </p:nvSpPr>
        <p:spPr>
          <a:xfrm>
            <a:off x="1069975" y="1450340"/>
            <a:ext cx="10058400" cy="4721860"/>
          </a:xfrm>
        </p:spPr>
        <p:txBody>
          <a:bodyPr>
            <a:normAutofit/>
          </a:bodyPr>
          <a:p>
            <a:pPr marL="0" indent="0" algn="just">
              <a:buNone/>
            </a:pPr>
            <a:r>
              <a:rPr lang="en-US" altLang="en-US" sz="2400">
                <a:latin typeface="Times New Roman" panose="02020603050405020304" charset="0"/>
                <a:cs typeface="Times New Roman" panose="02020603050405020304" charset="0"/>
              </a:rPr>
              <a:t>Merging in Git is the process of combining changes from one branch into another.</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Simple Use Case:</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You have two branches</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main (your production code)</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800100" lvl="1"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feature-login (where you're adding a login feature)</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Once you're done with the feature:</a:t>
            </a:r>
            <a:endParaRPr lang="en-US" altLang="en-US" sz="2400">
              <a:latin typeface="Times New Roman" panose="02020603050405020304" charset="0"/>
              <a:cs typeface="Times New Roman" panose="02020603050405020304" charset="0"/>
            </a:endParaRPr>
          </a:p>
          <a:p>
            <a:pPr marL="914400" lvl="2" indent="0" algn="just">
              <a:buNone/>
            </a:pPr>
            <a:r>
              <a:rPr lang="en-US" altLang="en-US" sz="2400">
                <a:latin typeface="Times New Roman" panose="02020603050405020304" charset="0"/>
                <a:cs typeface="Times New Roman" panose="02020603050405020304" charset="0"/>
              </a:rPr>
              <a:t>git checkout main       # Go to the branch you want to update</a:t>
            </a:r>
            <a:endParaRPr lang="en-US" altLang="en-US" sz="2400">
              <a:latin typeface="Times New Roman" panose="02020603050405020304" charset="0"/>
              <a:cs typeface="Times New Roman" panose="02020603050405020304" charset="0"/>
            </a:endParaRPr>
          </a:p>
          <a:p>
            <a:pPr marL="914400" lvl="2" indent="0" algn="just">
              <a:buNone/>
            </a:pPr>
            <a:r>
              <a:rPr lang="en-US" altLang="en-US" sz="2400">
                <a:latin typeface="Times New Roman" panose="02020603050405020304" charset="0"/>
                <a:cs typeface="Times New Roman" panose="02020603050405020304" charset="0"/>
              </a:rPr>
              <a:t>git merge feature-login # Bring in the changes from feature-login</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Now your main branch has all the code from feature-login.</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normAutofit fontScale="90000" lnSpcReduction="20000"/>
          </a:bodyPr>
          <a:p>
            <a:pPr marL="0" indent="0">
              <a:buNone/>
            </a:pPr>
            <a:r>
              <a:rPr lang="en-US" altLang="en-US" sz="2400" b="1" u="sng">
                <a:solidFill>
                  <a:schemeClr val="accent2"/>
                </a:solidFill>
                <a:latin typeface="Times New Roman" panose="02020603050405020304" charset="0"/>
                <a:cs typeface="Times New Roman" panose="02020603050405020304" charset="0"/>
              </a:rPr>
              <a:t>What Actually Happens:</a:t>
            </a:r>
            <a:endParaRPr lang="en-US" altLang="en-US" sz="2400" b="1" u="sng">
              <a:solidFill>
                <a:schemeClr val="accent2"/>
              </a:solidFill>
              <a:latin typeface="Times New Roman" panose="02020603050405020304" charset="0"/>
              <a:cs typeface="Times New Roman" panose="02020603050405020304" charset="0"/>
            </a:endParaRPr>
          </a:p>
          <a:p>
            <a:pPr marL="0" indent="0">
              <a:buNone/>
            </a:pPr>
            <a:r>
              <a:rPr lang="en-IN" altLang="en-US" sz="2400" b="1" u="sng">
                <a:solidFill>
                  <a:schemeClr val="tx1"/>
                </a:solidFill>
                <a:latin typeface="Times New Roman" panose="02020603050405020304" charset="0"/>
                <a:cs typeface="Times New Roman" panose="02020603050405020304" charset="0"/>
              </a:rPr>
              <a:t>Git:</a:t>
            </a:r>
            <a:endParaRPr lang="en-IN" altLang="en-US" sz="2400" b="1" u="sng">
              <a:solidFill>
                <a:schemeClr val="tx1"/>
              </a:solidFill>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665">
                <a:solidFill>
                  <a:schemeClr val="tx1"/>
                </a:solidFill>
                <a:latin typeface="Times New Roman" panose="02020603050405020304" charset="0"/>
                <a:cs typeface="Times New Roman" panose="02020603050405020304" charset="0"/>
              </a:rPr>
              <a:t>Finds the common ancestor of both branches</a:t>
            </a:r>
            <a:r>
              <a:rPr lang="en-IN" altLang="en-US" sz="2665">
                <a:solidFill>
                  <a:schemeClr val="tx1"/>
                </a:solidFill>
                <a:latin typeface="Times New Roman" panose="02020603050405020304" charset="0"/>
                <a:cs typeface="Times New Roman" panose="02020603050405020304" charset="0"/>
              </a:rPr>
              <a:t>.</a:t>
            </a:r>
            <a:endParaRPr lang="en-IN" altLang="en-US" sz="2665">
              <a:solidFill>
                <a:schemeClr val="tx1"/>
              </a:solidFill>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sz="2665">
                <a:solidFill>
                  <a:schemeClr val="tx1"/>
                </a:solidFill>
                <a:latin typeface="Times New Roman" panose="02020603050405020304" charset="0"/>
                <a:cs typeface="Times New Roman" panose="02020603050405020304" charset="0"/>
              </a:rPr>
              <a:t>Applies the changes made on the feature branch</a:t>
            </a:r>
            <a:r>
              <a:rPr lang="en-IN" altLang="en-US" sz="2665">
                <a:solidFill>
                  <a:schemeClr val="tx1"/>
                </a:solidFill>
                <a:latin typeface="Times New Roman" panose="02020603050405020304" charset="0"/>
                <a:cs typeface="Times New Roman" panose="02020603050405020304" charset="0"/>
              </a:rPr>
              <a:t>.</a:t>
            </a:r>
            <a:endParaRPr lang="en-IN" altLang="en-US" sz="2665">
              <a:solidFill>
                <a:schemeClr val="tx1"/>
              </a:solidFill>
              <a:latin typeface="Times New Roman" panose="02020603050405020304" charset="0"/>
              <a:cs typeface="Times New Roman" panose="02020603050405020304" charset="0"/>
            </a:endParaRPr>
          </a:p>
          <a:p>
            <a:pPr marL="0" indent="457200">
              <a:buNone/>
            </a:pPr>
            <a:r>
              <a:rPr lang="en-US" altLang="en-US" sz="2665">
                <a:solidFill>
                  <a:schemeClr val="tx1"/>
                </a:solidFill>
                <a:latin typeface="Times New Roman" panose="02020603050405020304" charset="0"/>
                <a:cs typeface="Times New Roman" panose="02020603050405020304" charset="0"/>
              </a:rPr>
              <a:t>Creates a new merge commit that joins them together</a:t>
            </a:r>
            <a:r>
              <a:rPr lang="en-IN" altLang="en-US" sz="2665">
                <a:solidFill>
                  <a:schemeClr val="tx1"/>
                </a:solidFill>
                <a:latin typeface="Times New Roman" panose="02020603050405020304" charset="0"/>
                <a:cs typeface="Times New Roman" panose="02020603050405020304" charset="0"/>
              </a:rPr>
              <a:t>.</a:t>
            </a:r>
            <a:endParaRPr lang="en-IN"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Before Merge:</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main:        A---B</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                   \</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feature:            C---D</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After Merge:</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main:        A---B-------E</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                   \     /</a:t>
            </a:r>
            <a:endParaRPr lang="en-US" altLang="en-US" sz="2665">
              <a:solidFill>
                <a:schemeClr val="tx1"/>
              </a:solidFill>
              <a:latin typeface="Times New Roman" panose="02020603050405020304" charset="0"/>
              <a:cs typeface="Times New Roman" panose="02020603050405020304" charset="0"/>
            </a:endParaRPr>
          </a:p>
          <a:p>
            <a:pPr marL="1371600" lvl="3" indent="457200">
              <a:buNone/>
            </a:pPr>
            <a:r>
              <a:rPr lang="en-US" altLang="en-US" sz="2665">
                <a:solidFill>
                  <a:schemeClr val="tx1"/>
                </a:solidFill>
                <a:latin typeface="Times New Roman" panose="02020603050405020304" charset="0"/>
                <a:cs typeface="Times New Roman" panose="02020603050405020304" charset="0"/>
              </a:rPr>
              <a:t>                    C---D</a:t>
            </a:r>
            <a:endParaRPr lang="en-US" altLang="en-US" sz="2665">
              <a:solidFill>
                <a:schemeClr val="tx1"/>
              </a:solidFill>
              <a:latin typeface="Times New Roman" panose="02020603050405020304" charset="0"/>
              <a:cs typeface="Times New Roman" panose="02020603050405020304" charset="0"/>
            </a:endParaRPr>
          </a:p>
          <a:p>
            <a:pPr marL="0" indent="457200">
              <a:buNone/>
            </a:pPr>
            <a:r>
              <a:rPr lang="en-US" altLang="en-US" sz="2665">
                <a:solidFill>
                  <a:schemeClr val="tx1"/>
                </a:solidFill>
                <a:latin typeface="Times New Roman" panose="02020603050405020304" charset="0"/>
                <a:cs typeface="Times New Roman" panose="02020603050405020304" charset="0"/>
              </a:rPr>
              <a:t>E is the merge commit that combines all the work.</a:t>
            </a:r>
            <a:endParaRPr lang="en-US" altLang="en-US" sz="2665">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normAutofit/>
          </a:bodyPr>
          <a:p>
            <a:pPr marL="0" indent="0">
              <a:buNone/>
            </a:pPr>
            <a:r>
              <a:rPr lang="en-US" altLang="en-US" sz="2400" b="1">
                <a:solidFill>
                  <a:schemeClr val="accent2"/>
                </a:solidFill>
                <a:latin typeface="Times New Roman" panose="02020603050405020304" charset="0"/>
                <a:cs typeface="Times New Roman" panose="02020603050405020304" charset="0"/>
              </a:rPr>
              <a:t>What if there are conflicts?</a:t>
            </a:r>
            <a:endParaRPr lang="en-US" altLang="en-US" sz="2400" b="1">
              <a:solidFill>
                <a:schemeClr val="accent2"/>
              </a:solidFill>
              <a:latin typeface="Times New Roman" panose="02020603050405020304" charset="0"/>
              <a:cs typeface="Times New Roman" panose="02020603050405020304" charset="0"/>
            </a:endParaRPr>
          </a:p>
          <a:p>
            <a:pPr marL="0" indent="0">
              <a:buNone/>
            </a:pPr>
            <a:r>
              <a:rPr lang="en-US" altLang="en-US" sz="2400">
                <a:latin typeface="Times New Roman" panose="02020603050405020304" charset="0"/>
                <a:cs typeface="Times New Roman" panose="02020603050405020304" charset="0"/>
              </a:rPr>
              <a:t>Sometimes, Git can’t automatically decide which change to keep. This causes a merge conflict.</a:t>
            </a:r>
            <a:endParaRPr lang="en-US" altLang="en-US" sz="2400">
              <a:latin typeface="Times New Roman" panose="02020603050405020304" charset="0"/>
              <a:cs typeface="Times New Roman" panose="02020603050405020304" charset="0"/>
            </a:endParaRPr>
          </a:p>
          <a:p>
            <a:pPr marL="0" indent="0">
              <a:buNone/>
            </a:pPr>
            <a:endParaRPr lang="en-US" altLang="en-US" sz="2400">
              <a:latin typeface="Times New Roman" panose="02020603050405020304" charset="0"/>
              <a:cs typeface="Times New Roman" panose="02020603050405020304" charset="0"/>
            </a:endParaRPr>
          </a:p>
          <a:p>
            <a:pPr marL="0" indent="0">
              <a:buNone/>
            </a:pPr>
            <a:r>
              <a:rPr lang="en-US" altLang="en-US" sz="2400">
                <a:latin typeface="Times New Roman" panose="02020603050405020304" charset="0"/>
                <a:cs typeface="Times New Roman" panose="02020603050405020304" charset="0"/>
              </a:rPr>
              <a:t>You’ll see:</a:t>
            </a:r>
            <a:endParaRPr lang="en-US" altLang="en-US" sz="2400">
              <a:latin typeface="Times New Roman" panose="02020603050405020304" charset="0"/>
              <a:cs typeface="Times New Roman" panose="02020603050405020304" charset="0"/>
            </a:endParaRPr>
          </a:p>
          <a:p>
            <a:pPr marL="0" indent="457200">
              <a:buNone/>
            </a:pPr>
            <a:r>
              <a:rPr lang="en-US" altLang="en-US" sz="2400">
                <a:latin typeface="Times New Roman" panose="02020603050405020304" charset="0"/>
                <a:cs typeface="Times New Roman" panose="02020603050405020304" charset="0"/>
              </a:rPr>
              <a:t>CONFLICT (content): Merge conflict in file.txt</a:t>
            </a:r>
            <a:endParaRPr lang="en-US" altLang="en-US" sz="2400">
              <a:latin typeface="Times New Roman" panose="02020603050405020304" charset="0"/>
              <a:cs typeface="Times New Roman" panose="02020603050405020304" charset="0"/>
            </a:endParaRPr>
          </a:p>
          <a:p>
            <a:pPr marL="0" indent="0">
              <a:buNone/>
            </a:pPr>
            <a:r>
              <a:rPr lang="en-US" altLang="en-US" sz="2400">
                <a:latin typeface="Times New Roman" panose="02020603050405020304" charset="0"/>
                <a:cs typeface="Times New Roman" panose="02020603050405020304" charset="0"/>
              </a:rPr>
              <a:t>To resolve:</a:t>
            </a:r>
            <a:endParaRPr lang="en-US" altLang="en-US" sz="2400">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latin typeface="Times New Roman" panose="02020603050405020304" charset="0"/>
                <a:cs typeface="Times New Roman" panose="02020603050405020304" charset="0"/>
              </a:rPr>
              <a:t>Open the file</a:t>
            </a:r>
            <a:endParaRPr lang="en-US" altLang="en-US" sz="2400">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latin typeface="Times New Roman" panose="02020603050405020304" charset="0"/>
                <a:cs typeface="Times New Roman" panose="02020603050405020304" charset="0"/>
              </a:rPr>
              <a:t>Choose which version to keep</a:t>
            </a:r>
            <a:endParaRPr lang="en-US" altLang="en-US" sz="2400">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latin typeface="Times New Roman" panose="02020603050405020304" charset="0"/>
                <a:cs typeface="Times New Roman" panose="02020603050405020304" charset="0"/>
              </a:rPr>
              <a:t>Save, then run</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800100" lvl="1" indent="-342900">
              <a:buFont typeface="Arial" panose="020B0604020202020204" pitchFamily="34" charset="0"/>
              <a:buChar char="•"/>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02970"/>
          </a:xfrm>
        </p:spPr>
        <p:txBody>
          <a:bodyPr/>
          <a:p>
            <a:r>
              <a:rPr lang="en-US" altLang="en-US">
                <a:solidFill>
                  <a:schemeClr val="accent2"/>
                </a:solidFill>
              </a:rPr>
              <a:t>What is clone in Git?</a:t>
            </a:r>
            <a:endParaRPr lang="en-US" altLang="en-US">
              <a:solidFill>
                <a:schemeClr val="accent2"/>
              </a:solidFill>
            </a:endParaRPr>
          </a:p>
        </p:txBody>
      </p:sp>
      <p:sp>
        <p:nvSpPr>
          <p:cNvPr id="3" name="Content Placeholder 2"/>
          <p:cNvSpPr>
            <a:spLocks noGrp="1"/>
          </p:cNvSpPr>
          <p:nvPr>
            <p:ph idx="1"/>
          </p:nvPr>
        </p:nvSpPr>
        <p:spPr>
          <a:xfrm>
            <a:off x="1069975" y="1386840"/>
            <a:ext cx="10058400" cy="4785360"/>
          </a:xfrm>
        </p:spPr>
        <p:txBody>
          <a:bodyPr/>
          <a:p>
            <a:pPr marL="0" indent="0" algn="just">
              <a:buNone/>
            </a:pPr>
            <a:r>
              <a:rPr lang="en-US" altLang="en-US" sz="2400">
                <a:latin typeface="Times New Roman" panose="02020603050405020304" charset="0"/>
                <a:cs typeface="Times New Roman" panose="02020603050405020304" charset="0"/>
              </a:rPr>
              <a:t>In Git, git clone is a command used to create a full copy of an existing Git repository (including its entire history) from a remote location to your local machine.</a:t>
            </a:r>
            <a:endParaRPr lang="en-US" altLang="en-US" sz="2400">
              <a:latin typeface="Times New Roman" panose="02020603050405020304" charset="0"/>
              <a:cs typeface="Times New Roman" panose="02020603050405020304" charset="0"/>
            </a:endParaRPr>
          </a:p>
          <a:p>
            <a:pPr marL="0" indent="457200" algn="just">
              <a:buNone/>
            </a:pPr>
            <a:r>
              <a:rPr lang="en-US" altLang="en-US" sz="2400" u="sng">
                <a:solidFill>
                  <a:schemeClr val="accent2"/>
                </a:solidFill>
                <a:latin typeface="Times New Roman" panose="02020603050405020304" charset="0"/>
                <a:cs typeface="Times New Roman" panose="02020603050405020304" charset="0"/>
              </a:rPr>
              <a:t>Command Syntax:</a:t>
            </a:r>
            <a:r>
              <a:rPr lang="en-US" altLang="en-US" sz="2400">
                <a:solidFill>
                  <a:schemeClr val="accent2"/>
                </a:solidFill>
                <a:latin typeface="Times New Roman" panose="02020603050405020304" charset="0"/>
                <a:cs typeface="Times New Roman" panose="02020603050405020304" charset="0"/>
              </a:rPr>
              <a:t> </a:t>
            </a:r>
            <a:r>
              <a:rPr lang="en-IN" altLang="en-US" sz="2400">
                <a:solidFill>
                  <a:schemeClr val="accent2"/>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git clone &lt;repository-url&gt;</a:t>
            </a:r>
            <a:endParaRPr lang="en-US" altLang="en-US" sz="2400">
              <a:solidFill>
                <a:schemeClr val="tx1"/>
              </a:solidFill>
              <a:latin typeface="Times New Roman" panose="02020603050405020304" charset="0"/>
              <a:cs typeface="Times New Roman" panose="02020603050405020304" charset="0"/>
            </a:endParaRPr>
          </a:p>
          <a:p>
            <a:pPr marL="0" indent="457200" algn="just">
              <a:buNone/>
            </a:pPr>
            <a:r>
              <a:rPr lang="en-US" altLang="en-US" sz="2400">
                <a:solidFill>
                  <a:schemeClr val="tx1"/>
                </a:solidFill>
                <a:latin typeface="Times New Roman" panose="02020603050405020304" charset="0"/>
                <a:cs typeface="Times New Roman" panose="02020603050405020304" charset="0"/>
              </a:rPr>
              <a:t>This will:</a:t>
            </a:r>
            <a:endParaRPr lang="en-US"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Download all files</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Set up a local Git repo</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Create a folder named my-project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Link it to the remote GitHub repository</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914400" lvl="2" indent="457200" algn="just">
              <a:buNone/>
            </a:pPr>
            <a:endParaRPr lang="en-US" altLang="en-US" sz="2400">
              <a:solidFill>
                <a:schemeClr val="tx1"/>
              </a:solidFill>
              <a:latin typeface="Times New Roman" panose="02020603050405020304" charset="0"/>
              <a:cs typeface="Times New Roman" panose="02020603050405020304" charset="0"/>
            </a:endParaRPr>
          </a:p>
          <a:p>
            <a:pPr marL="914400" lvl="2" indent="457200" algn="just">
              <a:buNone/>
            </a:pP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0" indent="0">
              <a:buNone/>
            </a:pPr>
            <a:r>
              <a:rPr lang="en-US" altLang="en-US" sz="2400" u="sng">
                <a:solidFill>
                  <a:schemeClr val="accent2"/>
                </a:solidFill>
                <a:latin typeface="Times New Roman" panose="02020603050405020304" charset="0"/>
                <a:cs typeface="Times New Roman" panose="02020603050405020304" charset="0"/>
              </a:rPr>
              <a:t>What Happens Internally:</a:t>
            </a:r>
            <a:endParaRPr lang="en-US" altLang="en-US" sz="2400" u="sng">
              <a:solidFill>
                <a:schemeClr val="accent2"/>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Copies all branches, commits, and tags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Sets the remote as origin (default remote name)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You're now ready to run git pull, git push, git commit, etc.</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0" indent="0">
              <a:buFont typeface="Arial" panose="020B0604020202020204" pitchFamily="34" charset="0"/>
              <a:buNone/>
            </a:pPr>
            <a:endParaRPr lang="en-IN" altLang="en-US" sz="2400">
              <a:solidFill>
                <a:schemeClr val="tx1"/>
              </a:solidFill>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US" sz="2400" u="sng">
                <a:solidFill>
                  <a:schemeClr val="accent2"/>
                </a:solidFill>
                <a:latin typeface="Times New Roman" panose="02020603050405020304" charset="0"/>
                <a:cs typeface="Times New Roman" panose="02020603050405020304" charset="0"/>
              </a:rPr>
              <a:t>After Cloning, You Can:</a:t>
            </a:r>
            <a:endParaRPr lang="en-US" altLang="en-US" sz="2400" u="sng">
              <a:solidFill>
                <a:schemeClr val="accent2"/>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Switch branches (git checkout branch-name)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Make changes &amp; commit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Push updates (git push)</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Pull new changes (git pull)</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81075"/>
          </a:xfrm>
        </p:spPr>
        <p:txBody>
          <a:bodyPr>
            <a:normAutofit/>
          </a:bodyPr>
          <a:p>
            <a:r>
              <a:rPr lang="en-US" altLang="en-US">
                <a:solidFill>
                  <a:schemeClr val="accent2"/>
                </a:solidFill>
              </a:rPr>
              <a:t>What is git pull in Git?</a:t>
            </a:r>
            <a:endParaRPr lang="en-US" altLang="en-US">
              <a:solidFill>
                <a:schemeClr val="accent2"/>
              </a:solidFill>
            </a:endParaRPr>
          </a:p>
        </p:txBody>
      </p:sp>
      <p:sp>
        <p:nvSpPr>
          <p:cNvPr id="3" name="Content Placeholder 2"/>
          <p:cNvSpPr>
            <a:spLocks noGrp="1"/>
          </p:cNvSpPr>
          <p:nvPr>
            <p:ph idx="1"/>
          </p:nvPr>
        </p:nvSpPr>
        <p:spPr>
          <a:xfrm>
            <a:off x="1069975" y="1465580"/>
            <a:ext cx="10058400" cy="4706620"/>
          </a:xfrm>
        </p:spPr>
        <p:txBody>
          <a:bodyPr/>
          <a:p>
            <a:pPr algn="just">
              <a:buFont typeface="Arial" panose="020B0604020202020204" pitchFamily="34" charset="0"/>
              <a:buChar char="•"/>
            </a:pPr>
            <a:r>
              <a:rPr lang="en-US" altLang="en-US" sz="2400">
                <a:latin typeface="Times New Roman" panose="02020603050405020304" charset="0"/>
                <a:cs typeface="Times New Roman" panose="02020603050405020304" charset="0"/>
              </a:rPr>
              <a:t>git pull is a command that fetches the latest changes from a remote repository and merges them into your local branch.</a:t>
            </a:r>
            <a:endParaRPr lang="en-US" altLang="en-US" sz="2400">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latin typeface="Times New Roman" panose="02020603050405020304" charset="0"/>
                <a:cs typeface="Times New Roman" panose="02020603050405020304" charset="0"/>
              </a:rPr>
              <a:t>It’s like syncing your code with the latest version from GitHub (or any remote repo).</a:t>
            </a:r>
            <a:endParaRPr lang="en-US" altLang="en-US" sz="2400">
              <a:latin typeface="Times New Roman" panose="02020603050405020304" charset="0"/>
              <a:cs typeface="Times New Roman" panose="02020603050405020304" charset="0"/>
            </a:endParaRPr>
          </a:p>
          <a:p>
            <a:pPr marL="457200" lvl="1" indent="457200" algn="just">
              <a:buFont typeface="Arial" panose="020B0604020202020204" pitchFamily="34" charset="0"/>
              <a:buNone/>
            </a:pPr>
            <a:r>
              <a:rPr lang="en-IN" altLang="en-US" sz="2400" u="sng">
                <a:solidFill>
                  <a:schemeClr val="accent2"/>
                </a:solidFill>
                <a:latin typeface="Times New Roman" panose="02020603050405020304" charset="0"/>
                <a:cs typeface="Times New Roman" panose="02020603050405020304" charset="0"/>
              </a:rPr>
              <a:t>Syntax:</a:t>
            </a:r>
            <a:r>
              <a:rPr lang="en-IN" altLang="en-US" sz="2400">
                <a:solidFill>
                  <a:schemeClr val="accent2"/>
                </a:solidFill>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git pull &lt;remote&gt; &lt;branch&gt;</a:t>
            </a:r>
            <a:endParaRPr lang="en-US" altLang="en-US" sz="2400">
              <a:latin typeface="Times New Roman" panose="02020603050405020304" charset="0"/>
              <a:cs typeface="Times New Roman" panose="02020603050405020304" charset="0"/>
            </a:endParaRPr>
          </a:p>
          <a:p>
            <a:pPr marL="457200" lvl="1" indent="457200" algn="just">
              <a:buFont typeface="Arial" panose="020B0604020202020204" pitchFamily="34" charset="0"/>
              <a:buNone/>
            </a:pPr>
            <a:endParaRPr lang="en-US" altLang="en-US" sz="240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a:solidFill>
                  <a:schemeClr val="accent2"/>
                </a:solidFill>
                <a:latin typeface="Times New Roman" panose="02020603050405020304" charset="0"/>
                <a:cs typeface="Times New Roman" panose="02020603050405020304" charset="0"/>
              </a:rPr>
              <a:t>What it actually does:</a:t>
            </a:r>
            <a:endParaRPr lang="en-US" altLang="en-US" sz="2400">
              <a:solidFill>
                <a:schemeClr val="accent2"/>
              </a:solidFill>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a:latin typeface="Times New Roman" panose="02020603050405020304" charset="0"/>
                <a:cs typeface="Times New Roman" panose="02020603050405020304" charset="0"/>
              </a:rPr>
              <a:t>git pull is a shortcut for two commands:</a:t>
            </a:r>
            <a:endParaRPr lang="en-US" altLang="en-US" sz="2400">
              <a:latin typeface="Times New Roman" panose="02020603050405020304" charset="0"/>
              <a:cs typeface="Times New Roman" panose="02020603050405020304" charset="0"/>
            </a:endParaRPr>
          </a:p>
          <a:p>
            <a:pPr marL="914400" lvl="2" indent="0" algn="just">
              <a:buFont typeface="Arial" panose="020B0604020202020204" pitchFamily="34" charset="0"/>
              <a:buNone/>
            </a:pPr>
            <a:r>
              <a:rPr lang="en-US" altLang="en-US" sz="2400">
                <a:latin typeface="Times New Roman" panose="02020603050405020304" charset="0"/>
                <a:cs typeface="Times New Roman" panose="02020603050405020304" charset="0"/>
              </a:rPr>
              <a:t>git fetch        # Download changes from remote</a:t>
            </a:r>
            <a:endParaRPr lang="en-US" altLang="en-US" sz="2400">
              <a:latin typeface="Times New Roman" panose="02020603050405020304" charset="0"/>
              <a:cs typeface="Times New Roman" panose="02020603050405020304" charset="0"/>
            </a:endParaRPr>
          </a:p>
          <a:p>
            <a:pPr marL="914400" lvl="2" indent="0" algn="just">
              <a:buFont typeface="Arial" panose="020B0604020202020204" pitchFamily="34" charset="0"/>
              <a:buNone/>
            </a:pPr>
            <a:r>
              <a:rPr lang="en-US" altLang="en-US" sz="2400">
                <a:latin typeface="Times New Roman" panose="02020603050405020304" charset="0"/>
                <a:cs typeface="Times New Roman" panose="02020603050405020304" charset="0"/>
              </a:rPr>
              <a:t>git merge        # Merge them into your current branch</a:t>
            </a:r>
            <a:endParaRPr lang="en-US" altLang="en-US" sz="2400">
              <a:latin typeface="Times New Roman" panose="02020603050405020304" charset="0"/>
              <a:cs typeface="Times New Roman" panose="02020603050405020304" charset="0"/>
            </a:endParaRPr>
          </a:p>
          <a:p>
            <a:pPr marL="0" indent="0" algn="just">
              <a:buFont typeface="Arial" panose="020B0604020202020204" pitchFamily="34" charset="0"/>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98220"/>
          </a:xfrm>
        </p:spPr>
        <p:txBody>
          <a:bodyPr>
            <a:normAutofit/>
          </a:bodyPr>
          <a:p>
            <a:r>
              <a:rPr lang="en-US" altLang="en-US">
                <a:solidFill>
                  <a:schemeClr val="accent2"/>
                </a:solidFill>
              </a:rPr>
              <a:t>What is git push in Git?</a:t>
            </a:r>
            <a:endParaRPr lang="en-US" altLang="en-US">
              <a:solidFill>
                <a:schemeClr val="accent2"/>
              </a:solidFill>
            </a:endParaRPr>
          </a:p>
        </p:txBody>
      </p:sp>
      <p:sp>
        <p:nvSpPr>
          <p:cNvPr id="3" name="Content Placeholder 2"/>
          <p:cNvSpPr>
            <a:spLocks noGrp="1"/>
          </p:cNvSpPr>
          <p:nvPr>
            <p:ph idx="1"/>
          </p:nvPr>
        </p:nvSpPr>
        <p:spPr>
          <a:xfrm>
            <a:off x="1069975" y="1482090"/>
            <a:ext cx="10058400" cy="4690110"/>
          </a:xfrm>
        </p:spPr>
        <p:txBody>
          <a:bodyPr/>
          <a:p>
            <a:pPr marL="0" indent="0" algn="just">
              <a:buNone/>
            </a:pPr>
            <a:r>
              <a:rPr lang="en-US" altLang="en-US" sz="2400">
                <a:latin typeface="Times New Roman" panose="02020603050405020304" charset="0"/>
                <a:cs typeface="Times New Roman" panose="02020603050405020304" charset="0"/>
              </a:rPr>
              <a:t>git push is the command you use to upload your local commits to a remote repository, like GitHub.</a:t>
            </a:r>
            <a:endParaRPr lang="en-US" altLang="en-US" sz="2400">
              <a:latin typeface="Times New Roman" panose="02020603050405020304" charset="0"/>
              <a:cs typeface="Times New Roman" panose="02020603050405020304" charset="0"/>
            </a:endParaRPr>
          </a:p>
          <a:p>
            <a:pPr marL="457200" lvl="1" indent="457200" algn="just">
              <a:buNone/>
            </a:pPr>
            <a:r>
              <a:rPr lang="en-US" altLang="en-US" sz="2400" u="sng">
                <a:solidFill>
                  <a:schemeClr val="accent2"/>
                </a:solidFill>
                <a:latin typeface="Times New Roman" panose="02020603050405020304" charset="0"/>
                <a:cs typeface="Times New Roman" panose="02020603050405020304" charset="0"/>
              </a:rPr>
              <a:t>Syntax:</a:t>
            </a:r>
            <a:r>
              <a:rPr lang="en-IN" altLang="en-US" sz="2400">
                <a:solidFill>
                  <a:schemeClr val="accent2"/>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git push &lt;remote&gt; &lt;branch&gt;</a:t>
            </a:r>
            <a:endParaRPr lang="en-US" altLang="en-US" sz="2400">
              <a:solidFill>
                <a:schemeClr val="tx1"/>
              </a:solidFill>
              <a:latin typeface="Times New Roman" panose="02020603050405020304" charset="0"/>
              <a:cs typeface="Times New Roman" panose="02020603050405020304" charset="0"/>
            </a:endParaRPr>
          </a:p>
          <a:p>
            <a:pPr marL="457200" lvl="1" indent="457200" algn="just">
              <a:buNone/>
            </a:pPr>
            <a:endParaRPr lang="en-US" altLang="en-US" sz="2400">
              <a:solidFill>
                <a:schemeClr val="tx1"/>
              </a:solidFill>
              <a:latin typeface="Times New Roman" panose="02020603050405020304" charset="0"/>
              <a:cs typeface="Times New Roman" panose="02020603050405020304" charset="0"/>
            </a:endParaRPr>
          </a:p>
          <a:p>
            <a:pPr marL="0" lvl="0" indent="0" algn="just">
              <a:buNone/>
            </a:pPr>
            <a:r>
              <a:rPr lang="en-US" altLang="en-US" sz="2400" b="1">
                <a:solidFill>
                  <a:schemeClr val="accent2"/>
                </a:solidFill>
                <a:latin typeface="Times New Roman" panose="02020603050405020304" charset="0"/>
                <a:cs typeface="Times New Roman" panose="02020603050405020304" charset="0"/>
              </a:rPr>
              <a:t>Where does it push to?</a:t>
            </a:r>
            <a:endParaRPr lang="en-US" altLang="en-US" sz="2400" b="1">
              <a:solidFill>
                <a:schemeClr val="accent2"/>
              </a:solidFill>
              <a:latin typeface="Times New Roman" panose="02020603050405020304" charset="0"/>
              <a:cs typeface="Times New Roman" panose="02020603050405020304" charset="0"/>
            </a:endParaRPr>
          </a:p>
          <a:p>
            <a:pPr lvl="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origin = the default name for the remote repo (usually GitHub)</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lvl="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main = the branch you are pushing (could also be dev, feature-xyz, etc.)</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82345"/>
          </a:xfrm>
        </p:spPr>
        <p:txBody>
          <a:bodyPr/>
          <a:p>
            <a:r>
              <a:rPr lang="en-US" altLang="en-US">
                <a:solidFill>
                  <a:schemeClr val="accent2"/>
                </a:solidFill>
              </a:rPr>
              <a:t>Git Workflow</a:t>
            </a:r>
            <a:endParaRPr lang="en-US" altLang="en-US">
              <a:solidFill>
                <a:schemeClr val="accent2"/>
              </a:solidFill>
            </a:endParaRPr>
          </a:p>
        </p:txBody>
      </p:sp>
      <p:sp>
        <p:nvSpPr>
          <p:cNvPr id="3" name="Content Placeholder 2"/>
          <p:cNvSpPr>
            <a:spLocks noGrp="1"/>
          </p:cNvSpPr>
          <p:nvPr>
            <p:ph idx="1"/>
          </p:nvPr>
        </p:nvSpPr>
        <p:spPr>
          <a:xfrm>
            <a:off x="1069975" y="1466215"/>
            <a:ext cx="10058400" cy="4705985"/>
          </a:xfrm>
        </p:spPr>
        <p:txBody>
          <a:bodyPr>
            <a:normAutofit lnSpcReduction="20000"/>
          </a:bodyPr>
          <a:p>
            <a:pPr marL="0" indent="0">
              <a:buNone/>
            </a:pPr>
            <a:r>
              <a:rPr lang="en-US" altLang="en-US" sz="2400">
                <a:latin typeface="Times New Roman" panose="02020603050405020304" charset="0"/>
                <a:cs typeface="Times New Roman" panose="02020603050405020304" charset="0"/>
              </a:rPr>
              <a:t>Working Directory → git add → Staging Area → git commit → Local Repo → git push → Remote Repo</a:t>
            </a:r>
            <a:r>
              <a:rPr lang="en-IN" altLang="en-US" sz="2400">
                <a:latin typeface="Times New Roman" panose="02020603050405020304" charset="0"/>
                <a:cs typeface="Times New Roman" panose="02020603050405020304" charset="0"/>
              </a:rPr>
              <a:t>.</a:t>
            </a:r>
            <a:r>
              <a:rPr lang="en-US" altLang="en-US" sz="2400">
                <a:latin typeface="Times New Roman" panose="02020603050405020304" charset="0"/>
                <a:cs typeface="Times New Roman" panose="02020603050405020304" charset="0"/>
              </a:rPr>
              <a:t>Remote </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Repo &lt;--- git pull --- Local Repo</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Working Directory</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git add (Stage)</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git commit (Save snapshot)</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a:t>
            </a:r>
            <a:endParaRPr lang="en-US" altLang="en-US" sz="2400">
              <a:latin typeface="Times New Roman" panose="02020603050405020304" charset="0"/>
              <a:cs typeface="Times New Roman" panose="02020603050405020304" charset="0"/>
            </a:endParaRPr>
          </a:p>
          <a:p>
            <a:pPr marL="0" indent="0" algn="ctr">
              <a:buNone/>
            </a:pPr>
            <a:r>
              <a:rPr lang="en-US" altLang="en-US" sz="2400">
                <a:latin typeface="Times New Roman" panose="02020603050405020304" charset="0"/>
                <a:cs typeface="Times New Roman" panose="02020603050405020304" charset="0"/>
              </a:rPr>
              <a:t>            git push ---&gt; Remote Repo</a:t>
            </a:r>
            <a:endParaRPr lang="en-US" altLang="en-US" sz="2400">
              <a:latin typeface="Times New Roman" panose="02020603050405020304" charset="0"/>
              <a:cs typeface="Times New Roman" panose="02020603050405020304" charset="0"/>
            </a:endParaRPr>
          </a:p>
          <a:p>
            <a:pPr marL="0" indent="0" algn="ctr">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featured"/>
          <p:cNvPicPr>
            <a:picLocks noChangeAspect="1"/>
          </p:cNvPicPr>
          <p:nvPr>
            <p:ph idx="1"/>
          </p:nvPr>
        </p:nvPicPr>
        <p:blipFill>
          <a:blip r:embed="rId1"/>
          <a:stretch>
            <a:fillRect/>
          </a:stretch>
        </p:blipFill>
        <p:spPr>
          <a:xfrm>
            <a:off x="1044575" y="695325"/>
            <a:ext cx="10107930" cy="55003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457200" indent="-457200">
              <a:buAutoNum type="arabicPeriod"/>
            </a:pPr>
            <a:r>
              <a:rPr lang="en-US" altLang="en-US" sz="2400" b="1">
                <a:latin typeface="Times New Roman" panose="02020603050405020304" charset="0"/>
                <a:cs typeface="Times New Roman" panose="02020603050405020304" charset="0"/>
              </a:rPr>
              <a:t>Clone the Repository (if working with remote)</a:t>
            </a:r>
            <a:endParaRPr lang="en-US" altLang="en-US" sz="2400" b="1">
              <a:latin typeface="Times New Roman" panose="02020603050405020304" charset="0"/>
              <a:cs typeface="Times New Roman" panose="02020603050405020304" charset="0"/>
            </a:endParaRPr>
          </a:p>
          <a:p>
            <a:pPr lvl="1" indent="0">
              <a:buNone/>
            </a:pPr>
            <a:r>
              <a:rPr lang="en-US" altLang="en-US" sz="2400">
                <a:latin typeface="Times New Roman" panose="02020603050405020304" charset="0"/>
                <a:cs typeface="Times New Roman" panose="02020603050405020304" charset="0"/>
              </a:rPr>
              <a:t>Get a copy of the repo from GitHub:</a:t>
            </a:r>
            <a:endParaRPr lang="en-US" altLang="en-US" sz="2400">
              <a:latin typeface="Times New Roman" panose="02020603050405020304" charset="0"/>
              <a:cs typeface="Times New Roman" panose="02020603050405020304" charset="0"/>
            </a:endParaRPr>
          </a:p>
          <a:p>
            <a:pPr marL="914400" lvl="2" indent="457200">
              <a:buNone/>
            </a:pPr>
            <a:r>
              <a:rPr lang="en-US" altLang="en-US" sz="2400">
                <a:latin typeface="Times New Roman" panose="02020603050405020304" charset="0"/>
                <a:cs typeface="Times New Roman" panose="02020603050405020304" charset="0"/>
              </a:rPr>
              <a:t>git clone &lt;repo-url&gt;</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b="1">
                <a:latin typeface="Times New Roman" panose="02020603050405020304" charset="0"/>
                <a:cs typeface="Times New Roman" panose="02020603050405020304" charset="0"/>
              </a:rPr>
              <a:t>Create or Switch to a Branch</a:t>
            </a:r>
            <a:endParaRPr lang="en-US" altLang="en-US" sz="2400" b="1">
              <a:latin typeface="Times New Roman" panose="02020603050405020304" charset="0"/>
              <a:cs typeface="Times New Roman" panose="02020603050405020304" charset="0"/>
            </a:endParaRPr>
          </a:p>
          <a:p>
            <a:pPr lvl="1" indent="0">
              <a:buNone/>
            </a:pPr>
            <a:r>
              <a:rPr lang="en-US" altLang="en-US" sz="2400">
                <a:latin typeface="Times New Roman" panose="02020603050405020304" charset="0"/>
                <a:cs typeface="Times New Roman" panose="02020603050405020304" charset="0"/>
              </a:rPr>
              <a:t>Start working in a new branch to avoid touching the main code:</a:t>
            </a:r>
            <a:endParaRPr lang="en-US" altLang="en-US" sz="2400">
              <a:latin typeface="Times New Roman" panose="02020603050405020304" charset="0"/>
              <a:cs typeface="Times New Roman" panose="02020603050405020304" charset="0"/>
            </a:endParaRPr>
          </a:p>
          <a:p>
            <a:pPr marL="914400" lvl="2" indent="457200">
              <a:buNone/>
            </a:pPr>
            <a:r>
              <a:rPr lang="en-US" altLang="en-US" sz="2400">
                <a:latin typeface="Times New Roman" panose="02020603050405020304" charset="0"/>
                <a:cs typeface="Times New Roman" panose="02020603050405020304" charset="0"/>
              </a:rPr>
              <a:t>git checkout -b feature-login</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b="1">
                <a:latin typeface="Times New Roman" panose="02020603050405020304" charset="0"/>
                <a:cs typeface="Times New Roman" panose="02020603050405020304" charset="0"/>
              </a:rPr>
              <a:t>Make Changes to Your Code</a:t>
            </a:r>
            <a:endParaRPr lang="en-US" altLang="en-US" sz="2400" b="1">
              <a:latin typeface="Times New Roman" panose="02020603050405020304" charset="0"/>
              <a:cs typeface="Times New Roman" panose="02020603050405020304" charset="0"/>
            </a:endParaRPr>
          </a:p>
          <a:p>
            <a:pPr lvl="1" indent="0">
              <a:buNone/>
            </a:pPr>
            <a:r>
              <a:rPr lang="en-US" altLang="en-US" sz="2400">
                <a:latin typeface="Times New Roman" panose="02020603050405020304" charset="0"/>
                <a:cs typeface="Times New Roman" panose="02020603050405020304" charset="0"/>
              </a:rPr>
              <a:t>Edit your files in your code editor.</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b="1">
                <a:latin typeface="Times New Roman" panose="02020603050405020304" charset="0"/>
                <a:cs typeface="Times New Roman" panose="02020603050405020304" charset="0"/>
              </a:rPr>
              <a:t>Stage Your Changes</a:t>
            </a:r>
            <a:endParaRPr lang="en-US" altLang="en-US" sz="2400" b="1">
              <a:latin typeface="Times New Roman" panose="02020603050405020304" charset="0"/>
              <a:cs typeface="Times New Roman" panose="02020603050405020304" charset="0"/>
            </a:endParaRPr>
          </a:p>
          <a:p>
            <a:pPr marL="0" indent="457200">
              <a:buNone/>
            </a:pPr>
            <a:r>
              <a:rPr lang="en-US" altLang="en-US" sz="2400">
                <a:latin typeface="Times New Roman" panose="02020603050405020304" charset="0"/>
                <a:cs typeface="Times New Roman" panose="02020603050405020304" charset="0"/>
              </a:rPr>
              <a:t>Add the files you want to commit:</a:t>
            </a:r>
            <a:endParaRPr lang="en-US" altLang="en-US" sz="2400">
              <a:latin typeface="Times New Roman" panose="02020603050405020304" charset="0"/>
              <a:cs typeface="Times New Roman" panose="02020603050405020304" charset="0"/>
            </a:endParaRPr>
          </a:p>
          <a:p>
            <a:pPr marL="914400" lvl="2" indent="457200">
              <a:buNone/>
            </a:pPr>
            <a:r>
              <a:rPr lang="en-US" altLang="en-US" sz="2400">
                <a:latin typeface="Times New Roman" panose="02020603050405020304" charset="0"/>
                <a:cs typeface="Times New Roman" panose="02020603050405020304" charset="0"/>
              </a:rPr>
              <a:t>git add file1 file2</a:t>
            </a:r>
            <a:endParaRPr lang="en-US" altLang="en-US" sz="2400">
              <a:latin typeface="Times New Roman" panose="02020603050405020304" charset="0"/>
              <a:cs typeface="Times New Roman" panose="02020603050405020304" charset="0"/>
            </a:endParaRPr>
          </a:p>
          <a:p>
            <a:pPr marL="914400" lvl="2" indent="457200">
              <a:buNone/>
            </a:pPr>
            <a:r>
              <a:rPr lang="en-US" altLang="en-US" sz="2400">
                <a:latin typeface="Times New Roman" panose="02020603050405020304" charset="0"/>
                <a:cs typeface="Times New Roman" panose="02020603050405020304" charset="0"/>
              </a:rPr>
              <a:t># or add all</a:t>
            </a:r>
            <a:endParaRPr lang="en-US" altLang="en-US" sz="2400">
              <a:latin typeface="Times New Roman" panose="02020603050405020304" charset="0"/>
              <a:cs typeface="Times New Roman" panose="02020603050405020304" charset="0"/>
            </a:endParaRPr>
          </a:p>
          <a:p>
            <a:pPr marL="914400" lvl="2" indent="457200">
              <a:buNone/>
            </a:pPr>
            <a:r>
              <a:rPr lang="en-US" altLang="en-US" sz="2400">
                <a:latin typeface="Times New Roman" panose="02020603050405020304" charset="0"/>
                <a:cs typeface="Times New Roman" panose="02020603050405020304" charset="0"/>
              </a:rPr>
              <a:t>git add .</a:t>
            </a:r>
            <a:endParaRPr lang="en-US" altLang="en-US" sz="2400">
              <a:latin typeface="Times New Roman" panose="02020603050405020304" charset="0"/>
              <a:cs typeface="Times New Roman" panose="02020603050405020304" charset="0"/>
            </a:endParaRPr>
          </a:p>
          <a:p>
            <a:pPr marL="914400" lvl="2" indent="457200">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457200" indent="-457200">
              <a:buFont typeface="+mj-lt"/>
              <a:buAutoNum type="arabicPeriod" startAt="5"/>
            </a:pPr>
            <a:r>
              <a:rPr lang="en-US" altLang="en-US" sz="2400" b="1">
                <a:latin typeface="Times New Roman" panose="02020603050405020304" charset="0"/>
                <a:cs typeface="Times New Roman" panose="02020603050405020304" charset="0"/>
              </a:rPr>
              <a:t>Commit the Changes</a:t>
            </a:r>
            <a:endParaRPr lang="en-US" altLang="en-US" sz="2400" b="1">
              <a:latin typeface="Times New Roman" panose="02020603050405020304" charset="0"/>
              <a:cs typeface="Times New Roman" panose="02020603050405020304" charset="0"/>
            </a:endParaRPr>
          </a:p>
          <a:p>
            <a:pPr lvl="1" indent="0">
              <a:buFont typeface="+mj-lt"/>
              <a:buNone/>
            </a:pPr>
            <a:r>
              <a:rPr lang="en-US" altLang="en-US" sz="2400">
                <a:latin typeface="Times New Roman" panose="02020603050405020304" charset="0"/>
                <a:cs typeface="Times New Roman" panose="02020603050405020304" charset="0"/>
              </a:rPr>
              <a:t>Save a snapshot of your staged changes:</a:t>
            </a:r>
            <a:endParaRPr lang="en-US" altLang="en-US" sz="2400">
              <a:latin typeface="Times New Roman" panose="02020603050405020304" charset="0"/>
              <a:cs typeface="Times New Roman" panose="02020603050405020304" charset="0"/>
            </a:endParaRPr>
          </a:p>
          <a:p>
            <a:pPr marL="914400" lvl="2" indent="457200">
              <a:buFont typeface="+mj-lt"/>
              <a:buNone/>
            </a:pPr>
            <a:r>
              <a:rPr lang="en-US" altLang="en-US" sz="2400">
                <a:latin typeface="Times New Roman" panose="02020603050405020304" charset="0"/>
                <a:cs typeface="Times New Roman" panose="02020603050405020304" charset="0"/>
              </a:rPr>
              <a:t>git commit -m "Add login feature"</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5"/>
            </a:pPr>
            <a:r>
              <a:rPr lang="en-US" altLang="en-US" sz="2400" b="1">
                <a:latin typeface="Times New Roman" panose="02020603050405020304" charset="0"/>
                <a:cs typeface="Times New Roman" panose="02020603050405020304" charset="0"/>
              </a:rPr>
              <a:t>Pull the Latest Changes (If Working With Others)</a:t>
            </a:r>
            <a:endParaRPr lang="en-US" altLang="en-US" sz="2400" b="1">
              <a:latin typeface="Times New Roman" panose="02020603050405020304" charset="0"/>
              <a:cs typeface="Times New Roman" panose="02020603050405020304" charset="0"/>
            </a:endParaRPr>
          </a:p>
          <a:p>
            <a:pPr lvl="1" indent="0">
              <a:buFont typeface="+mj-lt"/>
              <a:buNone/>
            </a:pPr>
            <a:r>
              <a:rPr lang="en-US" altLang="en-US" sz="2400">
                <a:latin typeface="Times New Roman" panose="02020603050405020304" charset="0"/>
                <a:cs typeface="Times New Roman" panose="02020603050405020304" charset="0"/>
              </a:rPr>
              <a:t>Before pushing, sync with the remote to avoid conflicts:</a:t>
            </a:r>
            <a:endParaRPr lang="en-US" altLang="en-US" sz="2400">
              <a:latin typeface="Times New Roman" panose="02020603050405020304" charset="0"/>
              <a:cs typeface="Times New Roman" panose="02020603050405020304" charset="0"/>
            </a:endParaRPr>
          </a:p>
          <a:p>
            <a:pPr marL="914400" lvl="2" indent="457200">
              <a:buFont typeface="+mj-lt"/>
              <a:buNone/>
            </a:pPr>
            <a:r>
              <a:rPr lang="en-US" altLang="en-US" sz="2400">
                <a:latin typeface="Times New Roman" panose="02020603050405020304" charset="0"/>
                <a:cs typeface="Times New Roman" panose="02020603050405020304" charset="0"/>
              </a:rPr>
              <a:t>git pull origin main</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5"/>
            </a:pPr>
            <a:r>
              <a:rPr lang="en-US" altLang="en-US" sz="2400" b="1">
                <a:latin typeface="Times New Roman" panose="02020603050405020304" charset="0"/>
                <a:cs typeface="Times New Roman" panose="02020603050405020304" charset="0"/>
              </a:rPr>
              <a:t>Resolve Merge Conflicts (if any)</a:t>
            </a:r>
            <a:endParaRPr lang="en-US" altLang="en-US" sz="2400" b="1">
              <a:latin typeface="Times New Roman" panose="02020603050405020304" charset="0"/>
              <a:cs typeface="Times New Roman" panose="02020603050405020304" charset="0"/>
            </a:endParaRPr>
          </a:p>
          <a:p>
            <a:pPr lvl="1" indent="0">
              <a:buFont typeface="+mj-lt"/>
              <a:buNone/>
            </a:pPr>
            <a:r>
              <a:rPr lang="en-US" altLang="en-US" sz="2400">
                <a:latin typeface="Times New Roman" panose="02020603050405020304" charset="0"/>
                <a:cs typeface="Times New Roman" panose="02020603050405020304" charset="0"/>
              </a:rPr>
              <a:t>Git will alert you if changes clash. Fix them manually and commit again.</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5"/>
            </a:pPr>
            <a:r>
              <a:rPr lang="en-US" altLang="en-US" sz="2400" b="1">
                <a:latin typeface="Times New Roman" panose="02020603050405020304" charset="0"/>
                <a:cs typeface="Times New Roman" panose="02020603050405020304" charset="0"/>
              </a:rPr>
              <a:t>Push Your Changes</a:t>
            </a:r>
            <a:endParaRPr lang="en-US" altLang="en-US" sz="2400" b="1">
              <a:latin typeface="Times New Roman" panose="02020603050405020304" charset="0"/>
              <a:cs typeface="Times New Roman" panose="02020603050405020304" charset="0"/>
            </a:endParaRPr>
          </a:p>
          <a:p>
            <a:pPr lvl="1" indent="0">
              <a:buFont typeface="+mj-lt"/>
              <a:buNone/>
            </a:pPr>
            <a:r>
              <a:rPr lang="en-US" altLang="en-US" sz="2400">
                <a:latin typeface="Times New Roman" panose="02020603050405020304" charset="0"/>
                <a:cs typeface="Times New Roman" panose="02020603050405020304" charset="0"/>
              </a:rPr>
              <a:t>Send your local commits to the remote repo:</a:t>
            </a:r>
            <a:endParaRPr lang="en-US" altLang="en-US" sz="2400">
              <a:latin typeface="Times New Roman" panose="02020603050405020304" charset="0"/>
              <a:cs typeface="Times New Roman" panose="02020603050405020304" charset="0"/>
            </a:endParaRPr>
          </a:p>
          <a:p>
            <a:pPr marL="914400" lvl="2" indent="457200">
              <a:buFont typeface="+mj-lt"/>
              <a:buNone/>
            </a:pPr>
            <a:r>
              <a:rPr lang="en-US" altLang="en-US" sz="2400">
                <a:latin typeface="Times New Roman" panose="02020603050405020304" charset="0"/>
                <a:cs typeface="Times New Roman" panose="02020603050405020304" charset="0"/>
              </a:rPr>
              <a:t>git push origin feature-login</a:t>
            </a:r>
            <a:endParaRPr lang="en-US" altLang="en-US" sz="2400">
              <a:latin typeface="Times New Roman" panose="02020603050405020304" charset="0"/>
              <a:cs typeface="Times New Roman" panose="02020603050405020304" charset="0"/>
            </a:endParaRPr>
          </a:p>
          <a:p>
            <a:pPr marL="914400" lvl="2" indent="457200">
              <a:buFont typeface="+mj-lt"/>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457200" indent="-457200">
              <a:buFont typeface="+mj-lt"/>
              <a:buAutoNum type="arabicPeriod" startAt="9"/>
            </a:pPr>
            <a:r>
              <a:rPr lang="en-US" altLang="en-US" sz="2400" b="1">
                <a:latin typeface="Times New Roman" panose="02020603050405020304" charset="0"/>
                <a:cs typeface="Times New Roman" panose="02020603050405020304" charset="0"/>
              </a:rPr>
              <a:t>Open a Pull Request (on GitHub)</a:t>
            </a:r>
            <a:endParaRPr lang="en-US" altLang="en-US" sz="2400" b="1">
              <a:latin typeface="Times New Roman" panose="02020603050405020304" charset="0"/>
              <a:cs typeface="Times New Roman" panose="02020603050405020304" charset="0"/>
            </a:endParaRPr>
          </a:p>
          <a:p>
            <a:pPr lvl="1" indent="0">
              <a:buFont typeface="+mj-lt"/>
              <a:buNone/>
            </a:pPr>
            <a:r>
              <a:rPr lang="en-US" altLang="en-US" sz="2400">
                <a:latin typeface="Times New Roman" panose="02020603050405020304" charset="0"/>
                <a:cs typeface="Times New Roman" panose="02020603050405020304" charset="0"/>
              </a:rPr>
              <a:t>If you're using GitHub:</a:t>
            </a:r>
            <a:endParaRPr lang="en-US" altLang="en-US" sz="2400">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Open GitHub in browser</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Compare your branch with main</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Create a Pull Request (PR)</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Add reviewers (if you're on a team)</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9"/>
            </a:pPr>
            <a:r>
              <a:rPr lang="en-US" altLang="en-US" sz="2400" b="1">
                <a:latin typeface="Times New Roman" panose="02020603050405020304" charset="0"/>
                <a:cs typeface="Times New Roman" panose="02020603050405020304" charset="0"/>
              </a:rPr>
              <a:t>Review and Merge</a:t>
            </a:r>
            <a:endParaRPr lang="en-US" altLang="en-US" sz="2400" b="1">
              <a:latin typeface="Times New Roman" panose="02020603050405020304" charset="0"/>
              <a:cs typeface="Times New Roman" panose="02020603050405020304" charset="0"/>
            </a:endParaRPr>
          </a:p>
          <a:p>
            <a:pPr lvl="1" indent="0">
              <a:buFont typeface="+mj-lt"/>
              <a:buNone/>
            </a:pPr>
            <a:r>
              <a:rPr lang="en-US" altLang="en-US" sz="2400">
                <a:latin typeface="Times New Roman" panose="02020603050405020304" charset="0"/>
                <a:cs typeface="Times New Roman" panose="02020603050405020304" charset="0"/>
              </a:rPr>
              <a:t>Once the PR is approved:</a:t>
            </a:r>
            <a:endParaRPr lang="en-US" altLang="en-US" sz="2400">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Merge into the main branch</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Optionally delete the feature branch</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u="sng">
                <a:solidFill>
                  <a:schemeClr val="accent2"/>
                </a:solidFill>
                <a:latin typeface="Times New Roman" panose="02020603050405020304" charset="0"/>
                <a:cs typeface="Times New Roman" panose="02020603050405020304" charset="0"/>
              </a:rPr>
              <a:t>Team Workflow (Feature Branch Workflow):</a:t>
            </a:r>
            <a:endParaRPr lang="en-US" altLang="en-US" sz="2400" b="1" u="sng">
              <a:solidFill>
                <a:schemeClr val="accent2"/>
              </a:solidFill>
              <a:latin typeface="Times New Roman" panose="02020603050405020304" charset="0"/>
              <a:cs typeface="Times New Roman" panose="02020603050405020304" charset="0"/>
            </a:endParaRPr>
          </a:p>
          <a:p>
            <a:pPr marL="0" indent="0">
              <a:buFont typeface="+mj-lt"/>
              <a:buNone/>
            </a:pPr>
            <a:r>
              <a:rPr lang="en-US" altLang="en-US" sz="2400">
                <a:solidFill>
                  <a:schemeClr val="tx1"/>
                </a:solidFill>
                <a:latin typeface="Times New Roman" panose="02020603050405020304" charset="0"/>
                <a:cs typeface="Times New Roman" panose="02020603050405020304" charset="0"/>
              </a:rPr>
              <a:t>This is very common in teams using GitHub:</a:t>
            </a:r>
            <a:endParaRPr lang="en-US"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main stays clean and deployable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Everyone creates feature branches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Work, commit, and push to those branches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Submit Pull Requests for review</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Merge into main after approval</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50595"/>
          </a:xfrm>
        </p:spPr>
        <p:txBody>
          <a:bodyPr>
            <a:normAutofit/>
          </a:bodyPr>
          <a:p>
            <a:r>
              <a:rPr lang="en-IN" altLang="en-US">
                <a:solidFill>
                  <a:schemeClr val="accent2"/>
                </a:solidFill>
              </a:rPr>
              <a:t>what is github?</a:t>
            </a:r>
            <a:endParaRPr lang="en-IN" altLang="en-US">
              <a:solidFill>
                <a:schemeClr val="accent2"/>
              </a:solidFill>
            </a:endParaRPr>
          </a:p>
        </p:txBody>
      </p:sp>
      <p:sp>
        <p:nvSpPr>
          <p:cNvPr id="3" name="Content Placeholder 2"/>
          <p:cNvSpPr>
            <a:spLocks noGrp="1"/>
          </p:cNvSpPr>
          <p:nvPr>
            <p:ph idx="1"/>
          </p:nvPr>
        </p:nvSpPr>
        <p:spPr>
          <a:xfrm>
            <a:off x="1069975" y="1434465"/>
            <a:ext cx="10058400" cy="4737735"/>
          </a:xfrm>
        </p:spPr>
        <p:txBody>
          <a:bodyPr/>
          <a:p>
            <a:pPr algn="just">
              <a:buFont typeface="Arial" panose="020B0604020202020204" pitchFamily="34" charset="0"/>
              <a:buChar char="•"/>
            </a:pPr>
            <a:r>
              <a:rPr lang="en-US" altLang="en-US" sz="2400">
                <a:latin typeface="Times New Roman" panose="02020603050405020304" charset="0"/>
                <a:cs typeface="Times New Roman" panose="02020603050405020304" charset="0"/>
              </a:rPr>
              <a:t>GitHub is a cloud-based platform that hosts Git repositories.</a:t>
            </a:r>
            <a:r>
              <a:rPr lang="en-IN" altLang="en-US" sz="2400">
                <a:latin typeface="Times New Roman" panose="02020603050405020304" charset="0"/>
                <a:cs typeface="Times New Roman" panose="02020603050405020304" charset="0"/>
              </a:rPr>
              <a:t> It is a website that allows to developers to store and manage their code using Git.</a:t>
            </a:r>
            <a:endParaRPr lang="en-IN" altLang="en-US" sz="2400">
              <a:latin typeface="Times New Roman" panose="02020603050405020304" charset="0"/>
              <a:cs typeface="Times New Roman" panose="02020603050405020304" charset="0"/>
            </a:endParaRPr>
          </a:p>
          <a:p>
            <a:pPr algn="just">
              <a:buFont typeface="Arial" panose="020B0604020202020204" pitchFamily="34" charset="0"/>
              <a:buChar char="•"/>
            </a:pPr>
            <a:r>
              <a:rPr lang="en-IN" altLang="en-US" sz="2400">
                <a:latin typeface="Times New Roman" panose="02020603050405020304" charset="0"/>
                <a:cs typeface="Times New Roman" panose="02020603050405020304" charset="0"/>
              </a:rPr>
              <a:t>We uplode our projects in GitHub in the format of folders[ those folders are called a repositories (repo) in GitHub language].</a:t>
            </a:r>
            <a:endParaRPr lang="en-IN" altLang="en-US" sz="2400">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latin typeface="Times New Roman" panose="02020603050405020304" charset="0"/>
                <a:cs typeface="Times New Roman" panose="02020603050405020304" charset="0"/>
              </a:rPr>
              <a:t>It's where you can store your code online.</a:t>
            </a:r>
            <a:endParaRPr lang="en-US" altLang="en-US" sz="2400">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latin typeface="Times New Roman" panose="02020603050405020304" charset="0"/>
                <a:cs typeface="Times New Roman" panose="02020603050405020304" charset="0"/>
              </a:rPr>
              <a:t>You can collaborate with others easily, manage issues, pull requests, and more.</a:t>
            </a:r>
            <a:endParaRPr lang="en-US" altLang="en-US" sz="2400">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latin typeface="Times New Roman" panose="02020603050405020304" charset="0"/>
                <a:cs typeface="Times New Roman" panose="02020603050405020304" charset="0"/>
              </a:rPr>
              <a:t>It's like social media for code — with features like profiles, followers, stars, etc.</a:t>
            </a:r>
            <a:endParaRPr lang="en-US" altLang="en-US" sz="2400">
              <a:latin typeface="Times New Roman" panose="02020603050405020304" charset="0"/>
              <a:cs typeface="Times New Roman" panose="02020603050405020304" charset="0"/>
            </a:endParaRPr>
          </a:p>
        </p:txBody>
      </p:sp>
      <p:graphicFrame>
        <p:nvGraphicFramePr>
          <p:cNvPr id="4" name="Table 3"/>
          <p:cNvGraphicFramePr/>
          <p:nvPr/>
        </p:nvGraphicFramePr>
        <p:xfrm>
          <a:off x="1659890" y="4530725"/>
          <a:ext cx="8533765" cy="1143000"/>
        </p:xfrm>
        <a:graphic>
          <a:graphicData uri="http://schemas.openxmlformats.org/drawingml/2006/table">
            <a:tbl>
              <a:tblPr firstRow="1" bandRow="1">
                <a:tableStyleId>{5C22544A-7EE6-4342-B048-85BDC9FD1C3A}</a:tableStyleId>
              </a:tblPr>
              <a:tblGrid>
                <a:gridCol w="2301240"/>
                <a:gridCol w="6231890"/>
              </a:tblGrid>
              <a:tr h="381000">
                <a:tc>
                  <a:txBody>
                    <a:bodyPr/>
                    <a:p>
                      <a:pPr algn="ctr">
                        <a:buNone/>
                      </a:pPr>
                      <a:r>
                        <a:rPr lang="en-IN" altLang="en-US" sz="2400">
                          <a:solidFill>
                            <a:schemeClr val="tx1"/>
                          </a:solidFill>
                          <a:latin typeface="Times New Roman" panose="02020603050405020304" charset="0"/>
                          <a:cs typeface="Times New Roman" panose="02020603050405020304" charset="0"/>
                        </a:rPr>
                        <a:t>Term</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Role</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IN" altLang="en-US" sz="2400">
                          <a:solidFill>
                            <a:schemeClr val="tx1"/>
                          </a:solidFill>
                          <a:latin typeface="Times New Roman" panose="02020603050405020304" charset="0"/>
                          <a:cs typeface="Times New Roman" panose="02020603050405020304" charset="0"/>
                        </a:rPr>
                        <a:t>Git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Tool to track changes in code.</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IN" altLang="en-US" sz="2400">
                          <a:solidFill>
                            <a:schemeClr val="tx1"/>
                          </a:solidFill>
                          <a:latin typeface="Times New Roman" panose="02020603050405020304" charset="0"/>
                          <a:cs typeface="Times New Roman" panose="02020603050405020304" charset="0"/>
                        </a:rPr>
                        <a:t>GitHub</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Website to host and share Git code.</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35355"/>
          </a:xfrm>
        </p:spPr>
        <p:txBody>
          <a:bodyPr/>
          <a:p>
            <a:r>
              <a:rPr lang="en-US" altLang="en-US">
                <a:solidFill>
                  <a:schemeClr val="accent2"/>
                </a:solidFill>
              </a:rPr>
              <a:t>Key GitHub Features</a:t>
            </a:r>
            <a:endParaRPr lang="en-US" altLang="en-US">
              <a:solidFill>
                <a:schemeClr val="accent2"/>
              </a:solidFill>
            </a:endParaRPr>
          </a:p>
        </p:txBody>
      </p:sp>
      <p:sp>
        <p:nvSpPr>
          <p:cNvPr id="3" name="Content Placeholder 2"/>
          <p:cNvSpPr>
            <a:spLocks noGrp="1"/>
          </p:cNvSpPr>
          <p:nvPr>
            <p:ph idx="1"/>
          </p:nvPr>
        </p:nvSpPr>
        <p:spPr>
          <a:xfrm>
            <a:off x="1069975" y="1420495"/>
            <a:ext cx="10058400" cy="4751705"/>
          </a:xfrm>
        </p:spPr>
        <p:txBody>
          <a:bodyPr/>
          <a:p>
            <a:pPr>
              <a:buFont typeface="Arial" panose="020B0604020202020204" pitchFamily="34" charset="0"/>
              <a:buChar char="•"/>
            </a:pPr>
            <a:r>
              <a:rPr sz="2400">
                <a:latin typeface="Times New Roman" panose="02020603050405020304" charset="0"/>
                <a:cs typeface="Times New Roman" panose="02020603050405020304" charset="0"/>
                <a:sym typeface="+mn-ea"/>
              </a:rPr>
              <a:t>Repositories</a:t>
            </a:r>
            <a:endParaRPr sz="2400">
              <a:latin typeface="Times New Roman" panose="02020603050405020304" charset="0"/>
              <a:cs typeface="Times New Roman" panose="02020603050405020304" charset="0"/>
              <a:sym typeface="+mn-ea"/>
            </a:endParaRPr>
          </a:p>
          <a:p>
            <a:pPr>
              <a:buFont typeface="Arial" panose="020B0604020202020204" pitchFamily="34" charset="0"/>
              <a:buChar char="•"/>
            </a:pPr>
            <a:r>
              <a:rPr sz="2400">
                <a:latin typeface="Times New Roman" panose="02020603050405020304" charset="0"/>
                <a:cs typeface="Times New Roman" panose="02020603050405020304" charset="0"/>
                <a:sym typeface="+mn-ea"/>
              </a:rPr>
              <a:t>Issues &amp; Pull Requests</a:t>
            </a:r>
            <a:endParaRPr sz="2400">
              <a:latin typeface="Times New Roman" panose="02020603050405020304" charset="0"/>
              <a:cs typeface="Times New Roman" panose="02020603050405020304" charset="0"/>
              <a:sym typeface="+mn-ea"/>
            </a:endParaRPr>
          </a:p>
          <a:p>
            <a:pPr>
              <a:buFont typeface="Arial" panose="020B0604020202020204" pitchFamily="34" charset="0"/>
              <a:buChar char="•"/>
            </a:pPr>
            <a:r>
              <a:rPr sz="2400">
                <a:latin typeface="Times New Roman" panose="02020603050405020304" charset="0"/>
                <a:cs typeface="Times New Roman" panose="02020603050405020304" charset="0"/>
                <a:sym typeface="+mn-ea"/>
              </a:rPr>
              <a:t>Branch protection</a:t>
            </a:r>
            <a:endParaRPr sz="2400">
              <a:latin typeface="Times New Roman" panose="02020603050405020304" charset="0"/>
              <a:cs typeface="Times New Roman" panose="02020603050405020304" charset="0"/>
              <a:sym typeface="+mn-ea"/>
            </a:endParaRPr>
          </a:p>
          <a:p>
            <a:pPr>
              <a:buFont typeface="Arial" panose="020B0604020202020204" pitchFamily="34" charset="0"/>
              <a:buChar char="•"/>
            </a:pPr>
            <a:r>
              <a:rPr sz="2400">
                <a:latin typeface="Times New Roman" panose="02020603050405020304" charset="0"/>
                <a:cs typeface="Times New Roman" panose="02020603050405020304" charset="0"/>
                <a:sym typeface="+mn-ea"/>
              </a:rPr>
              <a:t>Code review tools</a:t>
            </a:r>
            <a:endParaRPr sz="2400">
              <a:latin typeface="Times New Roman" panose="02020603050405020304" charset="0"/>
              <a:cs typeface="Times New Roman" panose="02020603050405020304" charset="0"/>
              <a:sym typeface="+mn-ea"/>
            </a:endParaRPr>
          </a:p>
          <a:p>
            <a:pPr>
              <a:buFont typeface="Arial" panose="020B0604020202020204" pitchFamily="34" charset="0"/>
              <a:buChar char="•"/>
            </a:pPr>
            <a:r>
              <a:rPr sz="2400">
                <a:latin typeface="Times New Roman" panose="02020603050405020304" charset="0"/>
                <a:cs typeface="Times New Roman" panose="02020603050405020304" charset="0"/>
                <a:sym typeface="+mn-ea"/>
              </a:rPr>
              <a:t>GitHub Actions</a:t>
            </a:r>
            <a:r>
              <a:rPr lang="en-IN" sz="2400">
                <a:latin typeface="Times New Roman" panose="02020603050405020304" charset="0"/>
                <a:cs typeface="Times New Roman" panose="02020603050405020304" charset="0"/>
                <a:sym typeface="+mn-ea"/>
              </a:rPr>
              <a:t> (CI/CD)</a:t>
            </a:r>
            <a:endParaRPr sz="2400">
              <a:latin typeface="Times New Roman" panose="02020603050405020304" charset="0"/>
              <a:cs typeface="Times New Roman" panose="02020603050405020304" charset="0"/>
              <a:sym typeface="+mn-ea"/>
            </a:endParaRPr>
          </a:p>
          <a:p>
            <a:pPr>
              <a:buFont typeface="Arial" panose="020B0604020202020204" pitchFamily="34" charset="0"/>
              <a:buChar char="•"/>
            </a:pPr>
            <a:r>
              <a:rPr sz="2400">
                <a:latin typeface="Times New Roman" panose="02020603050405020304" charset="0"/>
                <a:cs typeface="Times New Roman" panose="02020603050405020304" charset="0"/>
                <a:sym typeface="+mn-ea"/>
              </a:rPr>
              <a:t>Wiki &amp; Documentation</a:t>
            </a:r>
            <a:endParaRPr sz="2400">
              <a:latin typeface="Times New Roman" panose="02020603050405020304" charset="0"/>
              <a:cs typeface="Times New Roman" panose="02020603050405020304" charset="0"/>
              <a:sym typeface="+mn-ea"/>
            </a:endParaRPr>
          </a:p>
          <a:p>
            <a:pPr>
              <a:buFont typeface="Arial" panose="020B0604020202020204" pitchFamily="34" charset="0"/>
              <a:buChar char="•"/>
            </a:pPr>
            <a:endParaRPr lang="en-US" sz="2400">
              <a:latin typeface="Times New Roman" panose="02020603050405020304" charset="0"/>
              <a:cs typeface="Times New Roman" panose="0202060305040502030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51230"/>
          </a:xfrm>
        </p:spPr>
        <p:txBody>
          <a:bodyPr>
            <a:normAutofit/>
          </a:bodyPr>
          <a:p>
            <a:r>
              <a:rPr lang="en-US" altLang="en-US">
                <a:solidFill>
                  <a:schemeClr val="accent2"/>
                </a:solidFill>
              </a:rPr>
              <a:t>What is a Repository in GitHub?</a:t>
            </a:r>
            <a:endParaRPr lang="en-US" altLang="en-US">
              <a:solidFill>
                <a:schemeClr val="accent2"/>
              </a:solidFill>
            </a:endParaRPr>
          </a:p>
        </p:txBody>
      </p:sp>
      <p:sp>
        <p:nvSpPr>
          <p:cNvPr id="3" name="Content Placeholder 2"/>
          <p:cNvSpPr>
            <a:spLocks noGrp="1"/>
          </p:cNvSpPr>
          <p:nvPr>
            <p:ph idx="1"/>
          </p:nvPr>
        </p:nvSpPr>
        <p:spPr>
          <a:xfrm>
            <a:off x="1069975" y="1435100"/>
            <a:ext cx="10058400" cy="4737100"/>
          </a:xfrm>
        </p:spPr>
        <p:txBody>
          <a:bodyPr/>
          <a:p>
            <a:pPr marL="0" indent="0" algn="just">
              <a:buNone/>
            </a:pPr>
            <a:r>
              <a:rPr lang="en-US" altLang="en-US" sz="2400">
                <a:latin typeface="Times New Roman" panose="02020603050405020304" charset="0"/>
                <a:cs typeface="Times New Roman" panose="02020603050405020304" charset="0"/>
              </a:rPr>
              <a:t>A repository (or repo) on GitHub is like a project folder that stores all the files, history, and settings related to a coding project.</a:t>
            </a:r>
            <a:endParaRPr lang="en-US" altLang="en-US" sz="2400">
              <a:latin typeface="Times New Roman" panose="02020603050405020304" charset="0"/>
              <a:cs typeface="Times New Roman" panose="02020603050405020304" charset="0"/>
            </a:endParaRPr>
          </a:p>
          <a:p>
            <a:pPr algn="just">
              <a:buFont typeface="Arial" panose="020B0604020202020204" pitchFamily="34" charset="0"/>
              <a:buChar char="•"/>
            </a:pPr>
            <a:r>
              <a:rPr lang="en-IN" altLang="en-US" sz="2400">
                <a:latin typeface="Times New Roman" panose="02020603050405020304" charset="0"/>
                <a:cs typeface="Times New Roman" panose="02020603050405020304" charset="0"/>
              </a:rPr>
              <a:t>I</a:t>
            </a:r>
            <a:r>
              <a:rPr lang="en-US" altLang="en-US" sz="2400">
                <a:latin typeface="Times New Roman" panose="02020603050405020304" charset="0"/>
                <a:cs typeface="Times New Roman" panose="02020603050405020304" charset="0"/>
              </a:rPr>
              <a:t>t as a digital workspace where code lives, evolves, and is shared with others.</a:t>
            </a:r>
            <a:endParaRPr lang="en-US" altLang="en-US" sz="2400">
              <a:latin typeface="Times New Roman" panose="02020603050405020304" charset="0"/>
              <a:cs typeface="Times New Roman" panose="02020603050405020304" charset="0"/>
            </a:endParaRPr>
          </a:p>
          <a:p>
            <a:pPr marL="0" indent="0" algn="just">
              <a:buFont typeface="Arial" panose="020B0604020202020204" pitchFamily="34" charset="0"/>
              <a:buNone/>
            </a:pPr>
            <a:r>
              <a:rPr lang="en-US" altLang="en-US" sz="2400" b="1" u="sng">
                <a:solidFill>
                  <a:schemeClr val="accent2"/>
                </a:solidFill>
                <a:latin typeface="Times New Roman" panose="02020603050405020304" charset="0"/>
                <a:cs typeface="Times New Roman" panose="02020603050405020304" charset="0"/>
              </a:rPr>
              <a:t>A GitHub Repository Contains:</a:t>
            </a:r>
            <a:endParaRPr lang="en-US" altLang="en-US" sz="2400" b="1" u="sng">
              <a:solidFill>
                <a:schemeClr val="accent2"/>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Code files (e.g., .java, .py, .html, etc.)</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Version history (every commit you've made)</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Branches (different versions of your code)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README file (project overview or documentation)</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GitHub Actions (for automation like testing or deployment)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Issues (to track bugs or tasks)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u="sng">
                <a:solidFill>
                  <a:schemeClr val="accent2"/>
                </a:solidFill>
                <a:latin typeface="Times New Roman" panose="02020603050405020304" charset="0"/>
                <a:cs typeface="Times New Roman" panose="02020603050405020304" charset="0"/>
              </a:rPr>
              <a:t>Common GitHub Repo Operations:</a:t>
            </a:r>
            <a:endParaRPr lang="en-US" altLang="en-US" sz="2400" b="1" u="sng">
              <a:solidFill>
                <a:schemeClr val="accent2"/>
              </a:solidFill>
              <a:latin typeface="Times New Roman" panose="02020603050405020304" charset="0"/>
              <a:cs typeface="Times New Roman" panose="02020603050405020304" charset="0"/>
            </a:endParaRPr>
          </a:p>
          <a:p>
            <a:pPr marL="0" indent="0">
              <a:buFont typeface="+mj-lt"/>
              <a:buNone/>
            </a:pPr>
            <a:endParaRPr lang="en-US" altLang="en-US" sz="2400" b="1" u="sng">
              <a:solidFill>
                <a:schemeClr val="accent2"/>
              </a:solidFill>
              <a:latin typeface="Times New Roman" panose="02020603050405020304" charset="0"/>
              <a:cs typeface="Times New Roman" panose="02020603050405020304" charset="0"/>
            </a:endParaRPr>
          </a:p>
          <a:p>
            <a:pPr marL="0" indent="0">
              <a:buFont typeface="+mj-lt"/>
              <a:buNone/>
            </a:pPr>
            <a:endParaRPr lang="en-US" altLang="en-US" sz="2400" b="1" u="sng">
              <a:solidFill>
                <a:schemeClr val="accent2"/>
              </a:solidFill>
              <a:latin typeface="Times New Roman" panose="02020603050405020304" charset="0"/>
              <a:cs typeface="Times New Roman" panose="02020603050405020304" charset="0"/>
            </a:endParaRPr>
          </a:p>
        </p:txBody>
      </p:sp>
      <p:graphicFrame>
        <p:nvGraphicFramePr>
          <p:cNvPr id="2" name="Table 1"/>
          <p:cNvGraphicFramePr/>
          <p:nvPr/>
        </p:nvGraphicFramePr>
        <p:xfrm>
          <a:off x="1828800" y="1548130"/>
          <a:ext cx="8533765" cy="2286000"/>
        </p:xfrm>
        <a:graphic>
          <a:graphicData uri="http://schemas.openxmlformats.org/drawingml/2006/table">
            <a:tbl>
              <a:tblPr firstRow="1" bandRow="1">
                <a:tableStyleId>{5C22544A-7EE6-4342-B048-85BDC9FD1C3A}</a:tableStyleId>
              </a:tblPr>
              <a:tblGrid>
                <a:gridCol w="2760345"/>
                <a:gridCol w="5772785"/>
              </a:tblGrid>
              <a:tr h="381000">
                <a:tc>
                  <a:txBody>
                    <a:bodyPr/>
                    <a:p>
                      <a:pPr algn="ctr">
                        <a:buNone/>
                      </a:pPr>
                      <a:r>
                        <a:rPr lang="en-US" altLang="en-US" sz="2400">
                          <a:solidFill>
                            <a:schemeClr val="tx1"/>
                          </a:solidFill>
                          <a:latin typeface="Times New Roman" panose="02020603050405020304" charset="0"/>
                          <a:cs typeface="Times New Roman" panose="02020603050405020304" charset="0"/>
                        </a:rPr>
                        <a:t>Action</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Purpose</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Clone</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Download the repo to your local machine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Fork</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Copy someone else’s repo under your account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Push</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Upload local changes to GitHub</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Pull</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Download new changes from GitHub</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Create PR</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Propose your changes to be added to the repo</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a:solidFill>
                  <a:schemeClr val="accent2"/>
                </a:solidFill>
                <a:latin typeface="Times New Roman" panose="02020603050405020304" charset="0"/>
                <a:cs typeface="Times New Roman" panose="02020603050405020304" charset="0"/>
              </a:rPr>
              <a:t>Why Use Repositories?</a:t>
            </a:r>
            <a:endParaRPr lang="en-US" altLang="en-US" sz="2400" b="1">
              <a:solidFill>
                <a:schemeClr val="accent2"/>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Central place for your code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Collaborate with teammates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Track changes and history</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Share open source or private projects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Automate workflows (tests, builds, deployments)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03605"/>
          </a:xfrm>
        </p:spPr>
        <p:txBody>
          <a:bodyPr/>
          <a:p>
            <a:r>
              <a:rPr lang="en-US" altLang="en-US">
                <a:solidFill>
                  <a:schemeClr val="accent2"/>
                </a:solidFill>
              </a:rPr>
              <a:t>What are Issues in GitHub?</a:t>
            </a:r>
            <a:endParaRPr lang="en-US" altLang="en-US">
              <a:solidFill>
                <a:schemeClr val="accent2"/>
              </a:solidFill>
            </a:endParaRPr>
          </a:p>
        </p:txBody>
      </p:sp>
      <p:sp>
        <p:nvSpPr>
          <p:cNvPr id="3" name="Content Placeholder 2"/>
          <p:cNvSpPr>
            <a:spLocks noGrp="1"/>
          </p:cNvSpPr>
          <p:nvPr>
            <p:ph idx="1"/>
          </p:nvPr>
        </p:nvSpPr>
        <p:spPr>
          <a:xfrm>
            <a:off x="1069975" y="1388745"/>
            <a:ext cx="10058400" cy="4783455"/>
          </a:xfrm>
        </p:spPr>
        <p:txBody>
          <a:bodyPr/>
          <a:p>
            <a:pPr marL="0" indent="0">
              <a:buNone/>
            </a:pPr>
            <a:r>
              <a:rPr lang="en-US" altLang="en-US" sz="2400">
                <a:latin typeface="Times New Roman" panose="02020603050405020304" charset="0"/>
                <a:cs typeface="Times New Roman" panose="02020603050405020304" charset="0"/>
              </a:rPr>
              <a:t>An Issue is like a to-do, bug report, or discussion thread in your project.</a:t>
            </a:r>
            <a:endParaRPr lang="en-US" altLang="en-US" sz="2400">
              <a:latin typeface="Times New Roman" panose="02020603050405020304" charset="0"/>
              <a:cs typeface="Times New Roman" panose="02020603050405020304" charset="0"/>
            </a:endParaRPr>
          </a:p>
          <a:p>
            <a:pPr marL="0" indent="0">
              <a:buNone/>
            </a:pPr>
            <a:r>
              <a:rPr lang="en-IN" altLang="en-US" sz="2400">
                <a:latin typeface="Times New Roman" panose="02020603050405020304" charset="0"/>
                <a:cs typeface="Times New Roman" panose="02020603050405020304" charset="0"/>
              </a:rPr>
              <a:t>I</a:t>
            </a:r>
            <a:r>
              <a:rPr lang="en-US" altLang="en-US" sz="2400">
                <a:latin typeface="Times New Roman" panose="02020603050405020304" charset="0"/>
                <a:cs typeface="Times New Roman" panose="02020603050405020304" charset="0"/>
              </a:rPr>
              <a:t>t as a place to talk about something that needs to be fixed, improved, or discussed.</a:t>
            </a:r>
            <a:endParaRPr lang="en-US" altLang="en-US" sz="2400">
              <a:latin typeface="Times New Roman" panose="02020603050405020304" charset="0"/>
              <a:cs typeface="Times New Roman" panose="02020603050405020304" charset="0"/>
            </a:endParaRPr>
          </a:p>
          <a:p>
            <a:pPr marL="0" indent="0">
              <a:buNone/>
            </a:pPr>
            <a:r>
              <a:rPr lang="en-US" altLang="en-US" sz="2400" b="1" u="sng">
                <a:solidFill>
                  <a:schemeClr val="accent2"/>
                </a:solidFill>
                <a:latin typeface="Times New Roman" panose="02020603050405020304" charset="0"/>
                <a:cs typeface="Times New Roman" panose="02020603050405020304" charset="0"/>
              </a:rPr>
              <a:t>Common Uses for Issues:</a:t>
            </a:r>
            <a:endParaRPr lang="en-US" altLang="en-US" sz="2400" b="1" u="sng">
              <a:solidFill>
                <a:schemeClr val="accent2"/>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Reporting bugs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Suggesting new features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Documenting tasks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Starting a conversation or planning</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1059815"/>
          </a:xfrm>
        </p:spPr>
        <p:txBody>
          <a:bodyPr>
            <a:normAutofit/>
          </a:bodyPr>
          <a:p>
            <a:r>
              <a:rPr lang="en-US" altLang="en-US">
                <a:solidFill>
                  <a:schemeClr val="accent2"/>
                </a:solidFill>
              </a:rPr>
              <a:t>What is a Pull Request(PR) in GitHub?</a:t>
            </a:r>
            <a:endParaRPr lang="en-US" altLang="en-US">
              <a:solidFill>
                <a:schemeClr val="accent2"/>
              </a:solidFill>
            </a:endParaRPr>
          </a:p>
        </p:txBody>
      </p:sp>
      <p:sp>
        <p:nvSpPr>
          <p:cNvPr id="3" name="Content Placeholder 2"/>
          <p:cNvSpPr>
            <a:spLocks noGrp="1"/>
          </p:cNvSpPr>
          <p:nvPr>
            <p:ph idx="1"/>
          </p:nvPr>
        </p:nvSpPr>
        <p:spPr>
          <a:xfrm>
            <a:off x="1069975" y="1544955"/>
            <a:ext cx="10058400" cy="4627245"/>
          </a:xfrm>
        </p:spPr>
        <p:txBody>
          <a:bodyPr>
            <a:normAutofit lnSpcReduction="20000"/>
          </a:bodyPr>
          <a:p>
            <a:pPr marL="0" indent="0" algn="just">
              <a:buNone/>
            </a:pPr>
            <a:r>
              <a:rPr lang="en-US" altLang="en-US" sz="2400">
                <a:latin typeface="Times New Roman" panose="02020603050405020304" charset="0"/>
                <a:cs typeface="Times New Roman" panose="02020603050405020304" charset="0"/>
              </a:rPr>
              <a:t>A Pull Request is a way to propose changes to a repository. It allows you to ask someone to review and merge your changes into another branch (usually main or dev).</a:t>
            </a:r>
            <a:endParaRPr lang="en-US" altLang="en-US" sz="2400">
              <a:latin typeface="Times New Roman" panose="02020603050405020304" charset="0"/>
              <a:cs typeface="Times New Roman" panose="02020603050405020304" charset="0"/>
            </a:endParaRPr>
          </a:p>
          <a:p>
            <a:pPr marL="0" indent="0" algn="just">
              <a:buNone/>
            </a:pPr>
            <a:r>
              <a:rPr lang="en-US" altLang="en-US" sz="2400" b="1" u="sng">
                <a:solidFill>
                  <a:schemeClr val="accent2"/>
                </a:solidFill>
                <a:latin typeface="Times New Roman" panose="02020603050405020304" charset="0"/>
                <a:cs typeface="Times New Roman" panose="02020603050405020304" charset="0"/>
              </a:rPr>
              <a:t>Pull Request Workflow:</a:t>
            </a:r>
            <a:endParaRPr lang="en-US" altLang="en-US" sz="2400" b="1" u="sng">
              <a:solidFill>
                <a:schemeClr val="accent2"/>
              </a:solidFill>
              <a:latin typeface="Times New Roman" panose="02020603050405020304" charset="0"/>
              <a:cs typeface="Times New Roman" panose="02020603050405020304" charset="0"/>
            </a:endParaRPr>
          </a:p>
          <a:p>
            <a:pPr marL="457200" indent="-457200" algn="just">
              <a:buFont typeface="+mj-lt"/>
              <a:buAutoNum type="arabicPeriod"/>
            </a:pPr>
            <a:r>
              <a:rPr lang="en-US" altLang="en-US" sz="2400">
                <a:solidFill>
                  <a:schemeClr val="tx1"/>
                </a:solidFill>
                <a:latin typeface="Times New Roman" panose="02020603050405020304" charset="0"/>
                <a:cs typeface="Times New Roman" panose="02020603050405020304" charset="0"/>
              </a:rPr>
              <a:t>You create a new branch: feature/login-form</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lgn="just">
              <a:buFont typeface="+mj-lt"/>
              <a:buAutoNum type="arabicPeriod"/>
            </a:pPr>
            <a:r>
              <a:rPr lang="en-US" altLang="en-US" sz="2400">
                <a:solidFill>
                  <a:schemeClr val="tx1"/>
                </a:solidFill>
                <a:latin typeface="Times New Roman" panose="02020603050405020304" charset="0"/>
                <a:cs typeface="Times New Roman" panose="02020603050405020304" charset="0"/>
              </a:rPr>
              <a:t>You make changes and push it to GitHub</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lgn="just">
              <a:buFont typeface="+mj-lt"/>
              <a:buAutoNum type="arabicPeriod"/>
            </a:pPr>
            <a:r>
              <a:rPr lang="en-US" altLang="en-US" sz="2400">
                <a:solidFill>
                  <a:schemeClr val="tx1"/>
                </a:solidFill>
                <a:latin typeface="Times New Roman" panose="02020603050405020304" charset="0"/>
                <a:cs typeface="Times New Roman" panose="02020603050405020304" charset="0"/>
              </a:rPr>
              <a:t>You open a Pull Request to main from your branch</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lgn="just">
              <a:buFont typeface="+mj-lt"/>
              <a:buAutoNum type="arabicPeriod"/>
            </a:pPr>
            <a:r>
              <a:rPr lang="en-US" altLang="en-US" sz="2400">
                <a:solidFill>
                  <a:schemeClr val="tx1"/>
                </a:solidFill>
                <a:latin typeface="Times New Roman" panose="02020603050405020304" charset="0"/>
                <a:cs typeface="Times New Roman" panose="02020603050405020304" charset="0"/>
              </a:rPr>
              <a:t>Teammates can:</a:t>
            </a:r>
            <a:endParaRPr lang="en-US"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Review the code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Comment or suggest changes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Approve or request changes</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lgn="just">
              <a:buFont typeface="+mj-lt"/>
              <a:buAutoNum type="arabicPeriod"/>
            </a:pPr>
            <a:r>
              <a:rPr lang="en-US" altLang="en-US" sz="2400">
                <a:solidFill>
                  <a:schemeClr val="tx1"/>
                </a:solidFill>
                <a:latin typeface="Times New Roman" panose="02020603050405020304" charset="0"/>
                <a:cs typeface="Times New Roman" panose="02020603050405020304" charset="0"/>
              </a:rPr>
              <a:t> Once approved, it gets merged into the target branch</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0" indent="0" algn="just">
              <a:buNone/>
            </a:pP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0" indent="0">
              <a:buNone/>
            </a:pPr>
            <a:r>
              <a:rPr lang="en-US" altLang="en-US" sz="2400" b="1" u="sng">
                <a:solidFill>
                  <a:schemeClr val="accent2"/>
                </a:solidFill>
                <a:latin typeface="Times New Roman" panose="02020603050405020304" charset="0"/>
                <a:cs typeface="Times New Roman" panose="02020603050405020304" charset="0"/>
              </a:rPr>
              <a:t>Relationship Between Issues &amp; PRs:</a:t>
            </a:r>
            <a:endParaRPr lang="en-US" altLang="en-US" sz="2400" b="1" u="sng">
              <a:solidFill>
                <a:schemeClr val="accent2"/>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You can link PRs to Issues (e.g., "Fixes #12")</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548640" lvl="2" indent="0">
              <a:buFont typeface="Arial" panose="020B0604020202020204" pitchFamily="34" charset="0"/>
              <a:buNone/>
            </a:pPr>
            <a:r>
              <a:rPr lang="en-US" altLang="en-US" sz="2400">
                <a:solidFill>
                  <a:schemeClr val="tx1"/>
                </a:solidFill>
                <a:latin typeface="Times New Roman" panose="02020603050405020304" charset="0"/>
                <a:cs typeface="Times New Roman" panose="02020603050405020304" charset="0"/>
              </a:rPr>
              <a:t>When merged, the issue is automatically closed.</a:t>
            </a:r>
            <a:endParaRPr lang="en-US"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Issues describe the problem</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Pull Requests deliver the solution</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endParaRPr lang="en-IN" altLang="en-US" sz="2400">
              <a:solidFill>
                <a:schemeClr val="tx1"/>
              </a:solidFill>
              <a:latin typeface="Times New Roman" panose="02020603050405020304" charset="0"/>
              <a:cs typeface="Times New Roman" panose="02020603050405020304" charset="0"/>
            </a:endParaRPr>
          </a:p>
          <a:p>
            <a:pPr marL="0" indent="0">
              <a:buFont typeface="Arial" panose="020B0604020202020204" pitchFamily="34" charset="0"/>
              <a:buNone/>
            </a:pPr>
            <a:r>
              <a:rPr lang="en-US" altLang="en-US" sz="2400" b="1" u="sng">
                <a:solidFill>
                  <a:schemeClr val="accent2"/>
                </a:solidFill>
                <a:latin typeface="Times New Roman" panose="02020603050405020304" charset="0"/>
                <a:cs typeface="Times New Roman" panose="02020603050405020304" charset="0"/>
              </a:rPr>
              <a:t>Summary:</a:t>
            </a:r>
            <a:endParaRPr lang="en-US" altLang="en-US" sz="2400" b="1" u="sng">
              <a:solidFill>
                <a:schemeClr val="accent2"/>
              </a:solidFill>
              <a:latin typeface="Times New Roman" panose="02020603050405020304" charset="0"/>
              <a:cs typeface="Times New Roman" panose="02020603050405020304" charset="0"/>
            </a:endParaRPr>
          </a:p>
        </p:txBody>
      </p:sp>
      <p:graphicFrame>
        <p:nvGraphicFramePr>
          <p:cNvPr id="4" name="Table 3"/>
          <p:cNvGraphicFramePr/>
          <p:nvPr/>
        </p:nvGraphicFramePr>
        <p:xfrm>
          <a:off x="1828800" y="4000500"/>
          <a:ext cx="8533765" cy="1143000"/>
        </p:xfrm>
        <a:graphic>
          <a:graphicData uri="http://schemas.openxmlformats.org/drawingml/2006/table">
            <a:tbl>
              <a:tblPr firstRow="1" bandRow="1">
                <a:tableStyleId>{5C22544A-7EE6-4342-B048-85BDC9FD1C3A}</a:tableStyleId>
              </a:tblPr>
              <a:tblGrid>
                <a:gridCol w="2383790"/>
                <a:gridCol w="6149340"/>
              </a:tblGrid>
              <a:tr h="381000">
                <a:tc>
                  <a:txBody>
                    <a:bodyPr/>
                    <a:p>
                      <a:pPr algn="ctr">
                        <a:buNone/>
                      </a:pPr>
                      <a:r>
                        <a:rPr lang="en-US" altLang="en-US" sz="2400">
                          <a:solidFill>
                            <a:schemeClr val="tx1"/>
                          </a:solidFill>
                          <a:latin typeface="Times New Roman" panose="02020603050405020304" charset="0"/>
                          <a:cs typeface="Times New Roman" panose="02020603050405020304" charset="0"/>
                        </a:rPr>
                        <a:t>Feature</a:t>
                      </a:r>
                      <a:endParaRPr lang="en-US" altLang="en-US" sz="2400">
                        <a:solidFill>
                          <a:schemeClr val="tx1"/>
                        </a:solidFill>
                        <a:latin typeface="Times New Roman" panose="02020603050405020304" charset="0"/>
                        <a:cs typeface="Times New Roman" panose="02020603050405020304" charset="0"/>
                      </a:endParaRPr>
                    </a:p>
                  </a:txBody>
                  <a:tcPr/>
                </a:tc>
                <a:tc>
                  <a:txBody>
                    <a:bodyPr/>
                    <a:p>
                      <a:pPr algn="ctr">
                        <a:buNone/>
                      </a:pPr>
                      <a:r>
                        <a:rPr lang="en-US" altLang="en-US" sz="2400">
                          <a:solidFill>
                            <a:schemeClr val="tx1"/>
                          </a:solidFill>
                          <a:latin typeface="Times New Roman" panose="02020603050405020304" charset="0"/>
                          <a:cs typeface="Times New Roman" panose="02020603050405020304" charset="0"/>
                        </a:rPr>
                        <a:t>Purpose</a:t>
                      </a:r>
                      <a:endParaRPr lang="en-US" altLang="en-US" sz="2400">
                        <a:solidFill>
                          <a:schemeClr val="tx1"/>
                        </a:solidFill>
                        <a:latin typeface="Times New Roman" panose="02020603050405020304" charset="0"/>
                        <a:cs typeface="Times New Roman" panose="02020603050405020304" charset="0"/>
                      </a:endParaRPr>
                    </a:p>
                  </a:txBody>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Issues</a:t>
                      </a:r>
                      <a:endParaRPr lang="en-US" altLang="en-US" sz="2400">
                        <a:solidFill>
                          <a:schemeClr val="tx1"/>
                        </a:solidFill>
                        <a:latin typeface="Times New Roman" panose="02020603050405020304" charset="0"/>
                        <a:cs typeface="Times New Roman" panose="02020603050405020304" charset="0"/>
                      </a:endParaRPr>
                    </a:p>
                  </a:txBody>
                  <a:tcPr/>
                </a:tc>
                <a:tc>
                  <a:txBody>
                    <a:bodyPr/>
                    <a:p>
                      <a:pPr algn="ctr">
                        <a:buNone/>
                      </a:pPr>
                      <a:r>
                        <a:rPr lang="en-US" altLang="en-US" sz="2400">
                          <a:solidFill>
                            <a:schemeClr val="tx1"/>
                          </a:solidFill>
                          <a:latin typeface="Times New Roman" panose="02020603050405020304" charset="0"/>
                          <a:cs typeface="Times New Roman" panose="02020603050405020304" charset="0"/>
                        </a:rPr>
                        <a:t>Report bugs, plan features, discuss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Pull Requests</a:t>
                      </a:r>
                      <a:endParaRPr lang="en-US" altLang="en-US" sz="2400">
                        <a:solidFill>
                          <a:schemeClr val="tx1"/>
                        </a:solidFill>
                        <a:latin typeface="Times New Roman" panose="02020603050405020304" charset="0"/>
                        <a:cs typeface="Times New Roman" panose="02020603050405020304" charset="0"/>
                      </a:endParaRPr>
                    </a:p>
                  </a:txBody>
                  <a:tcPr/>
                </a:tc>
                <a:tc>
                  <a:txBody>
                    <a:bodyPr/>
                    <a:p>
                      <a:pPr algn="ctr">
                        <a:buNone/>
                      </a:pPr>
                      <a:r>
                        <a:rPr lang="en-US" altLang="en-US" sz="2400">
                          <a:solidFill>
                            <a:schemeClr val="tx1"/>
                          </a:solidFill>
                          <a:latin typeface="Times New Roman" panose="02020603050405020304" charset="0"/>
                          <a:cs typeface="Times New Roman" panose="02020603050405020304" charset="0"/>
                        </a:rPr>
                        <a:t>Propose and review code changes</a:t>
                      </a:r>
                      <a:endParaRPr lang="en-US" altLang="en-US" sz="2400">
                        <a:solidFill>
                          <a:schemeClr val="tx1"/>
                        </a:solidFill>
                        <a:latin typeface="Times New Roman" panose="02020603050405020304" charset="0"/>
                        <a:cs typeface="Times New Roman" panose="02020603050405020304" charset="0"/>
                      </a:endParaRPr>
                    </a:p>
                  </a:txBody>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34720"/>
          </a:xfrm>
        </p:spPr>
        <p:txBody>
          <a:bodyPr/>
          <a:p>
            <a:r>
              <a:rPr lang="en-US" altLang="en-US">
                <a:solidFill>
                  <a:schemeClr val="accent2"/>
                </a:solidFill>
              </a:rPr>
              <a:t>What is Branch Protection in GitHub?</a:t>
            </a:r>
            <a:endParaRPr lang="en-US" altLang="en-US">
              <a:solidFill>
                <a:schemeClr val="accent2"/>
              </a:solidFill>
            </a:endParaRPr>
          </a:p>
        </p:txBody>
      </p:sp>
      <p:sp>
        <p:nvSpPr>
          <p:cNvPr id="3" name="Content Placeholder 2"/>
          <p:cNvSpPr>
            <a:spLocks noGrp="1"/>
          </p:cNvSpPr>
          <p:nvPr>
            <p:ph idx="1"/>
          </p:nvPr>
        </p:nvSpPr>
        <p:spPr>
          <a:xfrm>
            <a:off x="1069975" y="1418590"/>
            <a:ext cx="10058400" cy="4753610"/>
          </a:xfrm>
        </p:spPr>
        <p:txBody>
          <a:bodyPr>
            <a:noAutofit/>
          </a:bodyPr>
          <a:p>
            <a:pPr marL="0" indent="0" algn="just">
              <a:buNone/>
            </a:pPr>
            <a:r>
              <a:rPr lang="en-US" altLang="en-US" sz="2300">
                <a:latin typeface="Times New Roman" panose="02020603050405020304" charset="0"/>
                <a:cs typeface="Times New Roman" panose="02020603050405020304" charset="0"/>
              </a:rPr>
              <a:t>Branch protection rules in GitHub let you control what actions are allowed on specific branches, especially your main or production branches like main or master.</a:t>
            </a:r>
            <a:endParaRPr lang="en-US" altLang="en-US" sz="2300">
              <a:latin typeface="Times New Roman" panose="02020603050405020304" charset="0"/>
              <a:cs typeface="Times New Roman" panose="02020603050405020304" charset="0"/>
            </a:endParaRPr>
          </a:p>
          <a:p>
            <a:pPr marL="0" indent="0" algn="just">
              <a:buNone/>
            </a:pPr>
            <a:r>
              <a:rPr lang="en-IN" altLang="en-US" sz="2300">
                <a:latin typeface="Times New Roman" panose="02020603050405020304" charset="0"/>
                <a:cs typeface="Times New Roman" panose="02020603050405020304" charset="0"/>
              </a:rPr>
              <a:t>It is used to</a:t>
            </a:r>
            <a:r>
              <a:rPr lang="en-US" altLang="en-US" sz="2300">
                <a:latin typeface="Times New Roman" panose="02020603050405020304" charset="0"/>
                <a:cs typeface="Times New Roman" panose="02020603050405020304" charset="0"/>
              </a:rPr>
              <a:t> setting up security gates for your branch to avoid accidental mistakes.</a:t>
            </a:r>
            <a:endParaRPr lang="en-US" altLang="en-US" sz="2300">
              <a:latin typeface="Times New Roman" panose="02020603050405020304" charset="0"/>
              <a:cs typeface="Times New Roman" panose="02020603050405020304" charset="0"/>
            </a:endParaRPr>
          </a:p>
          <a:p>
            <a:pPr marL="0" indent="0" algn="just">
              <a:buNone/>
            </a:pPr>
            <a:endParaRPr lang="en-US" altLang="en-US" sz="2300">
              <a:latin typeface="Times New Roman" panose="02020603050405020304" charset="0"/>
              <a:cs typeface="Times New Roman" panose="02020603050405020304" charset="0"/>
            </a:endParaRPr>
          </a:p>
          <a:p>
            <a:pPr marL="0" indent="0" algn="just">
              <a:buNone/>
            </a:pPr>
            <a:r>
              <a:rPr lang="en-US" altLang="en-US" sz="2300">
                <a:solidFill>
                  <a:schemeClr val="accent2"/>
                </a:solidFill>
                <a:latin typeface="Times New Roman" panose="02020603050405020304" charset="0"/>
                <a:cs typeface="Times New Roman" panose="02020603050405020304" charset="0"/>
              </a:rPr>
              <a:t>Why Use Branch Protection?</a:t>
            </a:r>
            <a:endParaRPr lang="en-US" altLang="en-US" sz="2300">
              <a:solidFill>
                <a:schemeClr val="accent2"/>
              </a:solidFill>
              <a:latin typeface="Times New Roman" panose="02020603050405020304" charset="0"/>
              <a:cs typeface="Times New Roman" panose="02020603050405020304" charset="0"/>
            </a:endParaRPr>
          </a:p>
          <a:p>
            <a:pPr marL="0" indent="0" algn="just">
              <a:buNone/>
            </a:pPr>
            <a:r>
              <a:rPr lang="en-US" altLang="en-US" sz="2300">
                <a:latin typeface="Times New Roman" panose="02020603050405020304" charset="0"/>
                <a:cs typeface="Times New Roman" panose="02020603050405020304" charset="0"/>
              </a:rPr>
              <a:t>To prevent:</a:t>
            </a:r>
            <a:endParaRPr lang="en-US" altLang="en-US" sz="23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Direct pushes to sensitive branches</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Merging unreviewed or broken code</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Accidentally deleting important branches</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u="sng">
                <a:solidFill>
                  <a:schemeClr val="accent2"/>
                </a:solidFill>
                <a:latin typeface="Times New Roman" panose="02020603050405020304" charset="0"/>
                <a:cs typeface="Times New Roman" panose="02020603050405020304" charset="0"/>
              </a:rPr>
              <a:t>Common Protections You Can Enable:</a:t>
            </a:r>
            <a:endParaRPr lang="en-US" altLang="en-US" sz="2400" b="1">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Require Pull Requests Before Merging</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Force developers to open a Pull Request (PR)</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Ensures code is reviewed before being merged</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Require Status Checks to Pass</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 Run tests (CI/CD) automatically before allowing merge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Example: Code must pass all unit tests</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Require Reviewers</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b="1">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At least 1 or more team members must approve the PR</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Require Signed Commits</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b="1">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Enforce cryptographically signed commits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914400" lvl="2" indent="0">
              <a:buFont typeface="Arial" panose="020B0604020202020204" pitchFamily="34" charset="0"/>
              <a:buNone/>
            </a:pPr>
            <a:endParaRPr lang="en-US" altLang="en-US" sz="1920">
              <a:solidFill>
                <a:schemeClr val="tx1"/>
              </a:solidFill>
              <a:latin typeface="Times New Roman" panose="02020603050405020304" charset="0"/>
              <a:cs typeface="Times New Roman" panose="02020603050405020304" charset="0"/>
            </a:endParaRPr>
          </a:p>
          <a:p>
            <a:pPr marL="0" indent="0">
              <a:buFont typeface="+mj-lt"/>
              <a:buNone/>
            </a:pPr>
            <a:endParaRPr lang="en-IN" altLang="en-US" sz="192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457200" indent="-457200">
              <a:buFont typeface="+mj-lt"/>
              <a:buAutoNum type="arabicPeriod" startAt="5"/>
            </a:pPr>
            <a:r>
              <a:rPr lang="en-US" altLang="en-US" sz="2400" b="1">
                <a:latin typeface="Times New Roman" panose="02020603050405020304" charset="0"/>
                <a:cs typeface="Times New Roman" panose="02020603050405020304" charset="0"/>
                <a:sym typeface="+mn-ea"/>
              </a:rPr>
              <a:t>Restrict Who Can Push</a:t>
            </a:r>
            <a:endParaRPr lang="en-US" altLang="en-US" sz="2400" b="1">
              <a:latin typeface="Times New Roman" panose="02020603050405020304" charset="0"/>
              <a:cs typeface="Times New Roman" panose="02020603050405020304" charset="0"/>
              <a:sym typeface="+mn-ea"/>
            </a:endParaRPr>
          </a:p>
          <a:p>
            <a:pPr marL="1371600" lvl="2" indent="-457200">
              <a:buFont typeface="Arial" panose="020B0604020202020204" pitchFamily="34" charset="0"/>
              <a:buChar char="•"/>
            </a:pPr>
            <a:r>
              <a:rPr lang="en-US" altLang="en-US" sz="2400">
                <a:latin typeface="Times New Roman" panose="02020603050405020304" charset="0"/>
                <a:cs typeface="Times New Roman" panose="02020603050405020304" charset="0"/>
                <a:sym typeface="+mn-ea"/>
              </a:rPr>
              <a:t> Only certain users/teams can push to the branch</a:t>
            </a:r>
            <a:r>
              <a:rPr lang="en-IN" altLang="en-US" sz="2400">
                <a:latin typeface="Times New Roman" panose="02020603050405020304" charset="0"/>
                <a:cs typeface="Times New Roman" panose="02020603050405020304" charset="0"/>
                <a:sym typeface="+mn-ea"/>
              </a:rPr>
              <a:t>.</a:t>
            </a:r>
            <a:endParaRPr lang="en-US" altLang="en-US" sz="2400" b="1">
              <a:latin typeface="Times New Roman" panose="02020603050405020304" charset="0"/>
              <a:cs typeface="Times New Roman" panose="02020603050405020304" charset="0"/>
              <a:sym typeface="+mn-ea"/>
            </a:endParaRPr>
          </a:p>
          <a:p>
            <a:pPr marL="457200" indent="-457200">
              <a:buFont typeface="+mj-lt"/>
              <a:buAutoNum type="arabicPeriod" startAt="5"/>
            </a:pPr>
            <a:r>
              <a:rPr lang="en-IN" altLang="en-US" sz="2400" b="1">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Require Branch to Be Up-to-Date</a:t>
            </a:r>
            <a:endParaRPr lang="en-US" altLang="en-US" sz="2400" b="1">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a:latin typeface="Times New Roman" panose="02020603050405020304" charset="0"/>
                <a:cs typeface="Times New Roman" panose="02020603050405020304" charset="0"/>
              </a:rPr>
              <a:t> Ensure the PR is based on the latest version of the base branch before merging</a:t>
            </a:r>
            <a:r>
              <a:rPr lang="en-IN" altLang="en-US" sz="2400">
                <a:latin typeface="Times New Roman" panose="02020603050405020304" charset="0"/>
                <a:cs typeface="Times New Roman" panose="02020603050405020304" charset="0"/>
              </a:rPr>
              <a:t>.</a:t>
            </a:r>
            <a:endParaRPr lang="en-US" altLang="en-US" sz="2400" b="1">
              <a:latin typeface="Times New Roman" panose="02020603050405020304" charset="0"/>
              <a:cs typeface="Times New Roman" panose="02020603050405020304" charset="0"/>
            </a:endParaRPr>
          </a:p>
          <a:p>
            <a:pPr marL="457200" indent="-457200">
              <a:buFont typeface="+mj-lt"/>
              <a:buAutoNum type="arabicPeriod" startAt="5"/>
            </a:pPr>
            <a:r>
              <a:rPr lang="en-IN" altLang="en-US" sz="2400" b="1">
                <a:latin typeface="Times New Roman" panose="02020603050405020304" charset="0"/>
                <a:cs typeface="Times New Roman" panose="02020603050405020304" charset="0"/>
              </a:rPr>
              <a:t> </a:t>
            </a:r>
            <a:r>
              <a:rPr lang="en-US" altLang="en-US" sz="2400" b="1">
                <a:latin typeface="Times New Roman" panose="02020603050405020304" charset="0"/>
                <a:cs typeface="Times New Roman" panose="02020603050405020304" charset="0"/>
              </a:rPr>
              <a:t>Prevent Force Pushes &amp; Deletion</a:t>
            </a:r>
            <a:endParaRPr lang="en-US" altLang="en-US" sz="2400" b="1">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Stop users from using git push --force</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latin typeface="Times New Roman" panose="02020603050405020304" charset="0"/>
                <a:cs typeface="Times New Roman" panose="02020603050405020304" charset="0"/>
              </a:rPr>
              <a:t> </a:t>
            </a:r>
            <a:r>
              <a:rPr lang="en-US" altLang="en-US" sz="2400">
                <a:latin typeface="Times New Roman" panose="02020603050405020304" charset="0"/>
                <a:cs typeface="Times New Roman" panose="02020603050405020304" charset="0"/>
              </a:rPr>
              <a:t>Protect the branch from being deleted</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u="sng">
                <a:solidFill>
                  <a:schemeClr val="accent2"/>
                </a:solidFill>
                <a:latin typeface="Times New Roman" panose="02020603050405020304" charset="0"/>
                <a:cs typeface="Times New Roman" panose="02020603050405020304" charset="0"/>
              </a:rPr>
              <a:t>Example Workflow with Protection:</a:t>
            </a:r>
            <a:endParaRPr lang="en-US" altLang="en-US" sz="2400" b="1" u="sng">
              <a:solidFill>
                <a:schemeClr val="accent2"/>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Dev creates feature/signup</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Makes changes and pushes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Opens PR to merge into main</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GitHub runs tests automatically</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Teammates review &amp; approve</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Only then can the code be merged</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Content Placeholder 1"/>
          <p:cNvGraphicFramePr/>
          <p:nvPr>
            <p:ph idx="1"/>
          </p:nvPr>
        </p:nvGraphicFramePr>
        <p:xfrm>
          <a:off x="1163955" y="1505585"/>
          <a:ext cx="10058400" cy="2286000"/>
        </p:xfrm>
        <a:graphic>
          <a:graphicData uri="http://schemas.openxmlformats.org/drawingml/2006/table">
            <a:tbl>
              <a:tblPr firstRow="1" bandRow="1">
                <a:tableStyleId>{5C22544A-7EE6-4342-B048-85BDC9FD1C3A}</a:tableStyleId>
              </a:tblPr>
              <a:tblGrid>
                <a:gridCol w="3177540"/>
                <a:gridCol w="6880860"/>
              </a:tblGrid>
              <a:tr h="381000">
                <a:tc>
                  <a:txBody>
                    <a:bodyPr/>
                    <a:p>
                      <a:pPr algn="ctr">
                        <a:buNone/>
                      </a:pPr>
                      <a:r>
                        <a:rPr lang="en-US" altLang="en-US" sz="2400">
                          <a:solidFill>
                            <a:schemeClr val="tx1"/>
                          </a:solidFill>
                          <a:latin typeface="Times New Roman" panose="02020603050405020304" charset="0"/>
                          <a:cs typeface="Times New Roman" panose="02020603050405020304" charset="0"/>
                        </a:rPr>
                        <a:t>Protection Type</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What It Does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Require PR</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Forces review process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Require Tests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Ensures quality via CI/CD</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Require Approvals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Encourages team feedback</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Prevent Force Push/Deletion</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Keeps branch history safe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Restrict Access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Gives control over who can make changes</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82345"/>
          </a:xfrm>
        </p:spPr>
        <p:txBody>
          <a:bodyPr/>
          <a:p>
            <a:r>
              <a:rPr lang="en-US" altLang="en-US">
                <a:solidFill>
                  <a:schemeClr val="accent2"/>
                </a:solidFill>
              </a:rPr>
              <a:t>What is a Code Review Tool in GitHub?</a:t>
            </a:r>
            <a:endParaRPr lang="en-US" altLang="en-US">
              <a:solidFill>
                <a:schemeClr val="accent2"/>
              </a:solidFill>
            </a:endParaRPr>
          </a:p>
        </p:txBody>
      </p:sp>
      <p:sp>
        <p:nvSpPr>
          <p:cNvPr id="3" name="Content Placeholder 2"/>
          <p:cNvSpPr>
            <a:spLocks noGrp="1"/>
          </p:cNvSpPr>
          <p:nvPr>
            <p:ph idx="1"/>
          </p:nvPr>
        </p:nvSpPr>
        <p:spPr>
          <a:xfrm>
            <a:off x="1069975" y="1466215"/>
            <a:ext cx="10058400" cy="4705985"/>
          </a:xfrm>
        </p:spPr>
        <p:txBody>
          <a:bodyPr/>
          <a:p>
            <a:pPr marL="0" indent="0" algn="just">
              <a:buNone/>
            </a:pPr>
            <a:r>
              <a:rPr lang="en-US" altLang="en-US" sz="2400">
                <a:latin typeface="Times New Roman" panose="02020603050405020304" charset="0"/>
                <a:cs typeface="Times New Roman" panose="02020603050405020304" charset="0"/>
              </a:rPr>
              <a:t>The code review tool in GitHub is built right into Pull Requests (PRs). It lets team members review, comment, suggest changes, and approve code before it gets merged into the main branch.</a:t>
            </a:r>
            <a:endParaRPr lang="en-US" altLang="en-US" sz="2400">
              <a:latin typeface="Times New Roman" panose="02020603050405020304" charset="0"/>
              <a:cs typeface="Times New Roman" panose="02020603050405020304" charset="0"/>
            </a:endParaRPr>
          </a:p>
          <a:p>
            <a:pPr marL="0" indent="0" algn="just">
              <a:buNone/>
            </a:pPr>
            <a:r>
              <a:rPr lang="en-IN" altLang="en-US" sz="2400">
                <a:latin typeface="Times New Roman" panose="02020603050405020304" charset="0"/>
                <a:cs typeface="Times New Roman" panose="02020603050405020304" charset="0"/>
              </a:rPr>
              <a:t>I</a:t>
            </a:r>
            <a:r>
              <a:rPr lang="en-US" altLang="en-US" sz="2400">
                <a:latin typeface="Times New Roman" panose="02020603050405020304" charset="0"/>
                <a:cs typeface="Times New Roman" panose="02020603050405020304" charset="0"/>
              </a:rPr>
              <a:t>t as a formal check-up for your code before it becomes part of the real project.</a:t>
            </a:r>
            <a:endParaRPr lang="en-US" altLang="en-US" sz="2400">
              <a:latin typeface="Times New Roman" panose="02020603050405020304" charset="0"/>
              <a:cs typeface="Times New Roman" panose="02020603050405020304" charset="0"/>
            </a:endParaRPr>
          </a:p>
          <a:p>
            <a:pPr marL="0" indent="0" algn="just">
              <a:buNone/>
            </a:pPr>
            <a:r>
              <a:rPr lang="en-US" altLang="en-US" sz="2400" b="1">
                <a:solidFill>
                  <a:schemeClr val="accent2"/>
                </a:solidFill>
                <a:latin typeface="Times New Roman" panose="02020603050405020304" charset="0"/>
                <a:cs typeface="Times New Roman" panose="02020603050405020304" charset="0"/>
              </a:rPr>
              <a:t>Benefits of Code Review in GitHub:</a:t>
            </a:r>
            <a:endParaRPr lang="en-US" altLang="en-US" sz="2400" b="1">
              <a:solidFill>
                <a:schemeClr val="accent2"/>
              </a:solidFill>
              <a:latin typeface="Times New Roman" panose="02020603050405020304" charset="0"/>
              <a:cs typeface="Times New Roman" panose="02020603050405020304" charset="0"/>
            </a:endParaRPr>
          </a:p>
        </p:txBody>
      </p:sp>
      <p:graphicFrame>
        <p:nvGraphicFramePr>
          <p:cNvPr id="4" name="Table 3"/>
          <p:cNvGraphicFramePr/>
          <p:nvPr/>
        </p:nvGraphicFramePr>
        <p:xfrm>
          <a:off x="1828800" y="3606165"/>
          <a:ext cx="8533130" cy="1905000"/>
        </p:xfrm>
        <a:graphic>
          <a:graphicData uri="http://schemas.openxmlformats.org/drawingml/2006/table">
            <a:tbl>
              <a:tblPr firstRow="1" bandRow="1">
                <a:tableStyleId>{5C22544A-7EE6-4342-B048-85BDC9FD1C3A}</a:tableStyleId>
              </a:tblPr>
              <a:tblGrid>
                <a:gridCol w="3183890"/>
                <a:gridCol w="5349240"/>
              </a:tblGrid>
              <a:tr h="381000">
                <a:tc>
                  <a:txBody>
                    <a:bodyPr/>
                    <a:p>
                      <a:pPr algn="ctr">
                        <a:buNone/>
                      </a:pPr>
                      <a:r>
                        <a:rPr lang="en-US" altLang="en-US" sz="2200">
                          <a:solidFill>
                            <a:schemeClr val="tx1"/>
                          </a:solidFill>
                          <a:latin typeface="Times New Roman" panose="02020603050405020304" charset="0"/>
                          <a:cs typeface="Times New Roman" panose="02020603050405020304" charset="0"/>
                        </a:rPr>
                        <a:t>Benefit</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200">
                          <a:solidFill>
                            <a:schemeClr val="tx1"/>
                          </a:solidFill>
                          <a:latin typeface="Times New Roman" panose="02020603050405020304" charset="0"/>
                          <a:cs typeface="Times New Roman" panose="02020603050405020304" charset="0"/>
                        </a:rPr>
                        <a:t>Description</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200">
                          <a:solidFill>
                            <a:schemeClr val="tx1"/>
                          </a:solidFill>
                          <a:latin typeface="Times New Roman" panose="02020603050405020304" charset="0"/>
                          <a:cs typeface="Times New Roman" panose="02020603050405020304" charset="0"/>
                        </a:rPr>
                        <a:t>Improves Code Quality</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200">
                          <a:solidFill>
                            <a:schemeClr val="tx1"/>
                          </a:solidFill>
                          <a:latin typeface="Times New Roman" panose="02020603050405020304" charset="0"/>
                          <a:cs typeface="Times New Roman" panose="02020603050405020304" charset="0"/>
                        </a:rPr>
                        <a:t>Catch bugs, improve structure &amp; readability</a:t>
                      </a:r>
                      <a:r>
                        <a:rPr lang="en-IN" altLang="en-US" sz="2200">
                          <a:solidFill>
                            <a:schemeClr val="tx1"/>
                          </a:solidFill>
                          <a:latin typeface="Times New Roman" panose="02020603050405020304" charset="0"/>
                          <a:cs typeface="Times New Roman" panose="02020603050405020304" charset="0"/>
                        </a:rPr>
                        <a:t>.</a:t>
                      </a:r>
                      <a:endParaRPr lang="en-IN"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200">
                          <a:solidFill>
                            <a:schemeClr val="tx1"/>
                          </a:solidFill>
                          <a:latin typeface="Times New Roman" panose="02020603050405020304" charset="0"/>
                          <a:cs typeface="Times New Roman" panose="02020603050405020304" charset="0"/>
                        </a:rPr>
                        <a:t>Knowledge Sharing</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200">
                          <a:solidFill>
                            <a:schemeClr val="tx1"/>
                          </a:solidFill>
                          <a:latin typeface="Times New Roman" panose="02020603050405020304" charset="0"/>
                          <a:cs typeface="Times New Roman" panose="02020603050405020304" charset="0"/>
                        </a:rPr>
                        <a:t>Helps team learn from each other’s code</a:t>
                      </a:r>
                      <a:r>
                        <a:rPr lang="en-IN" altLang="en-US" sz="2200">
                          <a:solidFill>
                            <a:schemeClr val="tx1"/>
                          </a:solidFill>
                          <a:latin typeface="Times New Roman" panose="02020603050405020304" charset="0"/>
                          <a:cs typeface="Times New Roman" panose="02020603050405020304" charset="0"/>
                        </a:rPr>
                        <a:t>.</a:t>
                      </a:r>
                      <a:endParaRPr lang="en-IN"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200">
                          <a:solidFill>
                            <a:schemeClr val="tx1"/>
                          </a:solidFill>
                          <a:latin typeface="Times New Roman" panose="02020603050405020304" charset="0"/>
                          <a:cs typeface="Times New Roman" panose="02020603050405020304" charset="0"/>
                        </a:rPr>
                        <a:t> Increases Transparency</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200">
                          <a:solidFill>
                            <a:schemeClr val="tx1"/>
                          </a:solidFill>
                          <a:latin typeface="Times New Roman" panose="02020603050405020304" charset="0"/>
                          <a:cs typeface="Times New Roman" panose="02020603050405020304" charset="0"/>
                        </a:rPr>
                        <a:t>Everyone sees what’s going into the codebase</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200">
                          <a:solidFill>
                            <a:schemeClr val="tx1"/>
                          </a:solidFill>
                          <a:latin typeface="Times New Roman" panose="02020603050405020304" charset="0"/>
                          <a:cs typeface="Times New Roman" panose="02020603050405020304" charset="0"/>
                        </a:rPr>
                        <a:t>Reduces Risk</a:t>
                      </a:r>
                      <a:endParaRPr lang="en-US"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200">
                          <a:solidFill>
                            <a:schemeClr val="tx1"/>
                          </a:solidFill>
                          <a:latin typeface="Times New Roman" panose="02020603050405020304" charset="0"/>
                          <a:cs typeface="Times New Roman" panose="02020603050405020304" charset="0"/>
                        </a:rPr>
                        <a:t>Stops bad code from reaching production</a:t>
                      </a:r>
                      <a:r>
                        <a:rPr lang="en-IN" altLang="en-US" sz="2200">
                          <a:solidFill>
                            <a:schemeClr val="tx1"/>
                          </a:solidFill>
                          <a:latin typeface="Times New Roman" panose="02020603050405020304" charset="0"/>
                          <a:cs typeface="Times New Roman" panose="02020603050405020304" charset="0"/>
                        </a:rPr>
                        <a:t>.</a:t>
                      </a:r>
                      <a:endParaRPr lang="en-IN" altLang="en-US" sz="22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a:solidFill>
                  <a:schemeClr val="accent2"/>
                </a:solidFill>
                <a:latin typeface="Times New Roman" panose="02020603050405020304" charset="0"/>
                <a:cs typeface="Times New Roman" panose="02020603050405020304" charset="0"/>
              </a:rPr>
              <a:t>Extra Features GitHub Offers for Review:</a:t>
            </a:r>
            <a:endParaRPr lang="en-US" altLang="en-US" sz="2400" b="1">
              <a:solidFill>
                <a:schemeClr val="accent2"/>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b="1" u="sng">
                <a:solidFill>
                  <a:schemeClr val="tx1"/>
                </a:solidFill>
                <a:latin typeface="Times New Roman" panose="02020603050405020304" charset="0"/>
                <a:cs typeface="Times New Roman" panose="02020603050405020304" charset="0"/>
              </a:rPr>
              <a:t>Required Reviewers:</a:t>
            </a:r>
            <a:r>
              <a:rPr lang="en-US" altLang="en-US" sz="2400">
                <a:solidFill>
                  <a:schemeClr val="tx1"/>
                </a:solidFill>
                <a:latin typeface="Times New Roman" panose="02020603050405020304" charset="0"/>
                <a:cs typeface="Times New Roman" panose="02020603050405020304" charset="0"/>
              </a:rPr>
              <a:t> Force specific people or teams to approve before merging</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b="1" u="sng">
                <a:solidFill>
                  <a:schemeClr val="tx1"/>
                </a:solidFill>
                <a:latin typeface="Times New Roman" panose="02020603050405020304" charset="0"/>
                <a:cs typeface="Times New Roman" panose="02020603050405020304" charset="0"/>
              </a:rPr>
              <a:t>Review Summary:</a:t>
            </a:r>
            <a:r>
              <a:rPr lang="en-US" altLang="en-US" sz="2400">
                <a:solidFill>
                  <a:schemeClr val="tx1"/>
                </a:solidFill>
                <a:latin typeface="Times New Roman" panose="02020603050405020304" charset="0"/>
                <a:cs typeface="Times New Roman" panose="02020603050405020304" charset="0"/>
              </a:rPr>
              <a:t> Shows who has approved, requested changes, or still reviewing</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b="1" u="sng">
                <a:solidFill>
                  <a:schemeClr val="tx1"/>
                </a:solidFill>
                <a:latin typeface="Times New Roman" panose="02020603050405020304" charset="0"/>
                <a:cs typeface="Times New Roman" panose="02020603050405020304" charset="0"/>
              </a:rPr>
              <a:t>Conversation Tab:</a:t>
            </a:r>
            <a:r>
              <a:rPr lang="en-US" altLang="en-US" sz="2400">
                <a:solidFill>
                  <a:schemeClr val="tx1"/>
                </a:solidFill>
                <a:latin typeface="Times New Roman" panose="02020603050405020304" charset="0"/>
                <a:cs typeface="Times New Roman" panose="02020603050405020304" charset="0"/>
              </a:rPr>
              <a:t> Tracks the entire PR discussion</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b="1" u="sng">
                <a:solidFill>
                  <a:schemeClr val="tx1"/>
                </a:solidFill>
                <a:latin typeface="Times New Roman" panose="02020603050405020304" charset="0"/>
                <a:cs typeface="Times New Roman" panose="02020603050405020304" charset="0"/>
              </a:rPr>
              <a:t>Suggested Changes:</a:t>
            </a:r>
            <a:r>
              <a:rPr lang="en-US" altLang="en-US" sz="2400">
                <a:solidFill>
                  <a:schemeClr val="tx1"/>
                </a:solidFill>
                <a:latin typeface="Times New Roman" panose="02020603050405020304" charset="0"/>
                <a:cs typeface="Times New Roman" panose="02020603050405020304" charset="0"/>
              </a:rPr>
              <a:t> Let reviewers suggest edits inline</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algn="just">
              <a:buFont typeface="Arial" panose="020B0604020202020204" pitchFamily="34" charset="0"/>
              <a:buChar char="•"/>
            </a:pPr>
            <a:r>
              <a:rPr lang="en-US" altLang="en-US" sz="2400" b="1" u="sng">
                <a:solidFill>
                  <a:schemeClr val="tx1"/>
                </a:solidFill>
                <a:latin typeface="Times New Roman" panose="02020603050405020304" charset="0"/>
                <a:cs typeface="Times New Roman" panose="02020603050405020304" charset="0"/>
              </a:rPr>
              <a:t>Resolve Conversations:</a:t>
            </a:r>
            <a:r>
              <a:rPr lang="en-US" altLang="en-US" sz="2400">
                <a:solidFill>
                  <a:schemeClr val="tx1"/>
                </a:solidFill>
                <a:latin typeface="Times New Roman" panose="02020603050405020304" charset="0"/>
                <a:cs typeface="Times New Roman" panose="02020603050405020304" charset="0"/>
              </a:rPr>
              <a:t> Mark issues in the review as resolved</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a:solidFill>
                  <a:schemeClr val="accent2"/>
                </a:solidFill>
                <a:latin typeface="Times New Roman" panose="02020603050405020304" charset="0"/>
                <a:cs typeface="Times New Roman" panose="02020603050405020304" charset="0"/>
              </a:rPr>
              <a:t>What Can You Do in a GitHub Code Review?</a:t>
            </a:r>
            <a:endParaRPr lang="en-US" altLang="en-US" sz="2400" b="1">
              <a:solidFill>
                <a:schemeClr val="accent2"/>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View Changes Side-by-Side</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b="1">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See exactly what was added, changed, or removed</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 Compare old vs. new code line-by-line</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Comment on Specific Lines</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b="1">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Highlight code and leave comments or questions</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Request Changes</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b="1">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Block merging until specific changes are made</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Approve the PR</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b="1">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Give a green light for the code to be merged</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b="1">
                <a:solidFill>
                  <a:schemeClr val="tx1"/>
                </a:solidFill>
                <a:latin typeface="Times New Roman" panose="02020603050405020304" charset="0"/>
                <a:cs typeface="Times New Roman" panose="02020603050405020304" charset="0"/>
              </a:rPr>
              <a:t>Add Suggestions</a:t>
            </a:r>
            <a:endParaRPr lang="en-US" altLang="en-US" sz="2400" b="1">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Directly suggest edits in the code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IN" altLang="en-US" sz="2400">
                <a:solidFill>
                  <a:schemeClr val="tx1"/>
                </a:solidFill>
                <a:latin typeface="Times New Roman" panose="02020603050405020304" charset="0"/>
                <a:cs typeface="Times New Roman" panose="02020603050405020304" charset="0"/>
              </a:rPr>
              <a:t> </a:t>
            </a:r>
            <a:r>
              <a:rPr lang="en-US" altLang="en-US" sz="2400">
                <a:solidFill>
                  <a:schemeClr val="tx1"/>
                </a:solidFill>
                <a:latin typeface="Times New Roman" panose="02020603050405020304" charset="0"/>
                <a:cs typeface="Times New Roman" panose="02020603050405020304" charset="0"/>
              </a:rPr>
              <a:t>Can be committed with one click by the author</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u="sng">
                <a:solidFill>
                  <a:schemeClr val="accent2"/>
                </a:solidFill>
                <a:latin typeface="Times New Roman" panose="02020603050405020304" charset="0"/>
                <a:cs typeface="Times New Roman" panose="02020603050405020304" charset="0"/>
              </a:rPr>
              <a:t>Code Review Flow in GitHub:</a:t>
            </a:r>
            <a:endParaRPr lang="en-US" altLang="en-US" sz="2400" b="1" u="sng">
              <a:solidFill>
                <a:schemeClr val="accent2"/>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Developer creates a feature branch</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Pushes changes and opens a Pull Request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Reviewers get notified and review the code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Reviewers can:</a:t>
            </a:r>
            <a:endParaRPr lang="en-US"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 Comment</a:t>
            </a:r>
            <a:endParaRPr lang="en-US"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 Approve</a:t>
            </a:r>
            <a:endParaRPr lang="en-US" altLang="en-US" sz="2400">
              <a:solidFill>
                <a:schemeClr val="tx1"/>
              </a:solidFill>
              <a:latin typeface="Times New Roman" panose="02020603050405020304" charset="0"/>
              <a:cs typeface="Times New Roman" panose="02020603050405020304" charset="0"/>
            </a:endParaRPr>
          </a:p>
          <a:p>
            <a:pPr marL="1371600" lvl="2" indent="-4572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 Request changes</a:t>
            </a:r>
            <a:endParaRPr lang="en-US" altLang="en-US" sz="2400">
              <a:solidFill>
                <a:schemeClr val="tx1"/>
              </a:solidFill>
              <a:latin typeface="Times New Roman" panose="02020603050405020304" charset="0"/>
              <a:cs typeface="Times New Roman" panose="02020603050405020304" charset="0"/>
            </a:endParaRPr>
          </a:p>
          <a:p>
            <a:pPr marL="457200" indent="-457200">
              <a:buFont typeface="+mj-lt"/>
              <a:buAutoNum type="arabicPeriod"/>
            </a:pPr>
            <a:r>
              <a:rPr lang="en-US" altLang="en-US" sz="2400">
                <a:solidFill>
                  <a:schemeClr val="tx1"/>
                </a:solidFill>
                <a:latin typeface="Times New Roman" panose="02020603050405020304" charset="0"/>
                <a:cs typeface="Times New Roman" panose="02020603050405020304" charset="0"/>
              </a:rPr>
              <a:t>Once approved and all checks pass → Merge the PR</a:t>
            </a:r>
            <a:r>
              <a:rPr lang="en-IN" altLang="en-US" sz="2400">
                <a:solidFill>
                  <a:schemeClr val="tx1"/>
                </a:solidFill>
                <a:latin typeface="Times New Roman" panose="02020603050405020304" charset="0"/>
                <a:cs typeface="Times New Roman" panose="02020603050405020304" charset="0"/>
              </a:rPr>
              <a:t>.</a:t>
            </a:r>
            <a:endParaRPr lang="en-US" altLang="en-US" sz="2400">
              <a:solidFill>
                <a:schemeClr val="tx1"/>
              </a:solidFill>
              <a:latin typeface="Times New Roman" panose="02020603050405020304" charset="0"/>
              <a:cs typeface="Times New Roman" panose="02020603050405020304" charset="0"/>
            </a:endParaRPr>
          </a:p>
          <a:p>
            <a:pPr marL="0" indent="0">
              <a:buFont typeface="+mj-lt"/>
              <a:buNone/>
            </a:pPr>
            <a:endParaRPr lang="en-US" altLang="en-US" sz="2400">
              <a:solidFill>
                <a:schemeClr val="tx1"/>
              </a:solidFill>
              <a:latin typeface="Times New Roman" panose="02020603050405020304" charset="0"/>
              <a:cs typeface="Times New Roman" panose="02020603050405020304" charset="0"/>
            </a:endParaRPr>
          </a:p>
          <a:p>
            <a:pPr marL="0" indent="0">
              <a:buFont typeface="+mj-lt"/>
              <a:buNone/>
            </a:pP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18845"/>
          </a:xfrm>
        </p:spPr>
        <p:txBody>
          <a:bodyPr/>
          <a:p>
            <a:r>
              <a:rPr lang="en-US" altLang="en-US">
                <a:solidFill>
                  <a:schemeClr val="accent2"/>
                </a:solidFill>
              </a:rPr>
              <a:t>What are GitHub Actions?</a:t>
            </a:r>
            <a:endParaRPr lang="en-US" altLang="en-US">
              <a:solidFill>
                <a:schemeClr val="accent2"/>
              </a:solidFill>
            </a:endParaRPr>
          </a:p>
        </p:txBody>
      </p:sp>
      <p:sp>
        <p:nvSpPr>
          <p:cNvPr id="3" name="Content Placeholder 2"/>
          <p:cNvSpPr>
            <a:spLocks noGrp="1"/>
          </p:cNvSpPr>
          <p:nvPr>
            <p:ph idx="1"/>
          </p:nvPr>
        </p:nvSpPr>
        <p:spPr>
          <a:xfrm>
            <a:off x="1069975" y="1403985"/>
            <a:ext cx="10058400" cy="4768215"/>
          </a:xfrm>
        </p:spPr>
        <p:txBody>
          <a:bodyPr>
            <a:normAutofit/>
          </a:bodyPr>
          <a:p>
            <a:pPr marL="0" indent="0" algn="just">
              <a:buNone/>
            </a:pPr>
            <a:r>
              <a:rPr lang="en-US" altLang="en-US" sz="2400">
                <a:latin typeface="Times New Roman" panose="02020603050405020304" charset="0"/>
                <a:cs typeface="Times New Roman" panose="02020603050405020304" charset="0"/>
              </a:rPr>
              <a:t>GitHub Actions is a CI/CD (Continuous Integration and Continuous Deployment) tool built into GitHub.</a:t>
            </a:r>
            <a:endParaRPr lang="en-US" altLang="en-US" sz="2400">
              <a:latin typeface="Times New Roman" panose="02020603050405020304" charset="0"/>
              <a:cs typeface="Times New Roman" panose="02020603050405020304" charset="0"/>
            </a:endParaRPr>
          </a:p>
          <a:p>
            <a:pPr marL="0" indent="0" algn="just">
              <a:buNone/>
            </a:pPr>
            <a:r>
              <a:rPr lang="en-US" altLang="en-US" sz="2400">
                <a:latin typeface="Times New Roman" panose="02020603050405020304" charset="0"/>
                <a:cs typeface="Times New Roman" panose="02020603050405020304" charset="0"/>
              </a:rPr>
              <a:t>It lets you automate workflows like:</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Running tests</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Building your code</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Deploying your app</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Sending alerts</a:t>
            </a:r>
            <a:endParaRPr lang="en-US" altLang="en-US" sz="2400">
              <a:latin typeface="Times New Roman" panose="02020603050405020304" charset="0"/>
              <a:cs typeface="Times New Roman" panose="02020603050405020304" charset="0"/>
            </a:endParaRPr>
          </a:p>
          <a:p>
            <a:pPr marL="1257300" lvl="2" indent="-342900" algn="just">
              <a:buFont typeface="Arial" panose="020B0604020202020204" pitchFamily="34" charset="0"/>
              <a:buChar char="•"/>
            </a:pPr>
            <a:r>
              <a:rPr lang="en-US" altLang="en-US" sz="2400">
                <a:latin typeface="Times New Roman" panose="02020603050405020304" charset="0"/>
                <a:cs typeface="Times New Roman" panose="02020603050405020304" charset="0"/>
              </a:rPr>
              <a:t>And more — automatically when something happens in your repo</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a:solidFill>
                  <a:schemeClr val="accent2"/>
                </a:solidFill>
                <a:latin typeface="Times New Roman" panose="02020603050405020304" charset="0"/>
                <a:cs typeface="Times New Roman" panose="02020603050405020304" charset="0"/>
              </a:rPr>
              <a:t>What Can You Automate?</a:t>
            </a:r>
            <a:endParaRPr lang="en-US" altLang="en-US" sz="2400" b="1">
              <a:solidFill>
                <a:schemeClr val="accent2"/>
              </a:solidFill>
              <a:latin typeface="Times New Roman" panose="02020603050405020304" charset="0"/>
              <a:cs typeface="Times New Roman" panose="02020603050405020304" charset="0"/>
            </a:endParaRPr>
          </a:p>
        </p:txBody>
      </p:sp>
      <p:graphicFrame>
        <p:nvGraphicFramePr>
          <p:cNvPr id="2" name="Table 1"/>
          <p:cNvGraphicFramePr/>
          <p:nvPr/>
        </p:nvGraphicFramePr>
        <p:xfrm>
          <a:off x="1687195" y="1483995"/>
          <a:ext cx="8533130" cy="2667000"/>
        </p:xfrm>
        <a:graphic>
          <a:graphicData uri="http://schemas.openxmlformats.org/drawingml/2006/table">
            <a:tbl>
              <a:tblPr firstRow="1" bandRow="1">
                <a:tableStyleId>{5C22544A-7EE6-4342-B048-85BDC9FD1C3A}</a:tableStyleId>
              </a:tblPr>
              <a:tblGrid>
                <a:gridCol w="2728595"/>
                <a:gridCol w="5804535"/>
              </a:tblGrid>
              <a:tr h="381000">
                <a:tc>
                  <a:txBody>
                    <a:bodyPr/>
                    <a:p>
                      <a:pPr algn="ctr">
                        <a:buNone/>
                      </a:pPr>
                      <a:r>
                        <a:rPr lang="en-US" altLang="en-US" sz="2400">
                          <a:solidFill>
                            <a:schemeClr val="tx1"/>
                          </a:solidFill>
                          <a:latin typeface="Times New Roman" panose="02020603050405020304" charset="0"/>
                          <a:cs typeface="Times New Roman" panose="02020603050405020304" charset="0"/>
                        </a:rPr>
                        <a:t>Task</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Example</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Run tests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Before merging code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Lint code</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On every push</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Build a project</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Compile/build before deploy</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Deploy to server/cloud</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Auto-deploy to Heroku, AWS, etc</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Auto-generate release notes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When tagging a release</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US" altLang="en-US" sz="2400">
                          <a:solidFill>
                            <a:schemeClr val="tx1"/>
                          </a:solidFill>
                          <a:latin typeface="Times New Roman" panose="02020603050405020304" charset="0"/>
                          <a:cs typeface="Times New Roman" panose="02020603050405020304" charset="0"/>
                        </a:rPr>
                        <a:t>Sync branches</a:t>
                      </a:r>
                      <a:endParaRPr lang="en-US"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US" altLang="en-US" sz="2400">
                          <a:solidFill>
                            <a:schemeClr val="tx1"/>
                          </a:solidFill>
                          <a:latin typeface="Times New Roman" panose="02020603050405020304" charset="0"/>
                          <a:cs typeface="Times New Roman" panose="02020603050405020304" charset="0"/>
                        </a:rPr>
                        <a:t>Keep branches in sync</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0" indent="0">
              <a:buFont typeface="+mj-lt"/>
              <a:buNone/>
            </a:pPr>
            <a:r>
              <a:rPr lang="en-US" altLang="en-US" sz="2400" b="1" u="sng">
                <a:solidFill>
                  <a:schemeClr val="accent2"/>
                </a:solidFill>
                <a:latin typeface="Times New Roman" panose="02020603050405020304" charset="0"/>
                <a:cs typeface="Times New Roman" panose="02020603050405020304" charset="0"/>
              </a:rPr>
              <a:t>How GitHub Actions Work:</a:t>
            </a:r>
            <a:endParaRPr lang="en-US" altLang="en-US" sz="2400" b="1" u="sng">
              <a:solidFill>
                <a:schemeClr val="accent2"/>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You create a workflow file in .github/workflows/</a:t>
            </a:r>
            <a:endParaRPr lang="en-US"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The file is written in YAML format</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You define:</a:t>
            </a:r>
            <a:endParaRPr lang="en-US"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Trigger (when to run)</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Jobs (what to do)</a:t>
            </a:r>
            <a:r>
              <a:rPr lang="en-IN" altLang="en-US" sz="2400">
                <a:solidFill>
                  <a:schemeClr val="tx1"/>
                </a:solidFill>
                <a:latin typeface="Times New Roman" panose="02020603050405020304" charset="0"/>
                <a:cs typeface="Times New Roman" panose="02020603050405020304" charset="0"/>
              </a:rPr>
              <a:t>.</a:t>
            </a:r>
            <a:endParaRPr lang="en-IN" altLang="en-US" sz="2400">
              <a:solidFill>
                <a:schemeClr val="tx1"/>
              </a:solidFill>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solidFill>
                  <a:schemeClr val="tx1"/>
                </a:solidFill>
                <a:latin typeface="Times New Roman" panose="02020603050405020304" charset="0"/>
                <a:cs typeface="Times New Roman" panose="02020603050405020304" charset="0"/>
              </a:rPr>
              <a:t>Steps (specific commands)</a:t>
            </a:r>
            <a:endParaRPr lang="en-US" altLang="en-US" sz="2400">
              <a:solidFill>
                <a:schemeClr val="tx1"/>
              </a:solidFill>
              <a:latin typeface="Times New Roman" panose="02020603050405020304" charset="0"/>
              <a:cs typeface="Times New Roman" panose="0202060305040502030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1044575"/>
          </a:xfrm>
        </p:spPr>
        <p:txBody>
          <a:bodyPr>
            <a:normAutofit/>
          </a:bodyPr>
          <a:p>
            <a:r>
              <a:rPr lang="en-US" altLang="en-US">
                <a:solidFill>
                  <a:schemeClr val="accent2"/>
                </a:solidFill>
              </a:rPr>
              <a:t>GitHub Workflow</a:t>
            </a:r>
            <a:endParaRPr lang="en-US" altLang="en-US">
              <a:solidFill>
                <a:schemeClr val="accent2"/>
              </a:solidFill>
            </a:endParaRPr>
          </a:p>
        </p:txBody>
      </p:sp>
      <p:sp>
        <p:nvSpPr>
          <p:cNvPr id="3" name="Content Placeholder 2"/>
          <p:cNvSpPr>
            <a:spLocks noGrp="1"/>
          </p:cNvSpPr>
          <p:nvPr>
            <p:ph idx="1"/>
          </p:nvPr>
        </p:nvSpPr>
        <p:spPr>
          <a:xfrm>
            <a:off x="1069975" y="1529080"/>
            <a:ext cx="10058400" cy="4643120"/>
          </a:xfrm>
        </p:spPr>
        <p:txBody>
          <a:bodyPr>
            <a:normAutofit/>
          </a:bodyPr>
          <a:p>
            <a:pPr marL="457200" indent="-457200">
              <a:buFont typeface="+mj-lt"/>
              <a:buAutoNum type="arabicPeriod"/>
            </a:pPr>
            <a:r>
              <a:rPr lang="en-US" altLang="en-US" sz="2400">
                <a:latin typeface="Times New Roman" panose="02020603050405020304" charset="0"/>
                <a:cs typeface="Times New Roman" panose="02020603050405020304" charset="0"/>
              </a:rPr>
              <a:t>Fork repo</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a:latin typeface="Times New Roman" panose="02020603050405020304" charset="0"/>
                <a:cs typeface="Times New Roman" panose="02020603050405020304" charset="0"/>
              </a:rPr>
              <a:t>Clone to local</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a:latin typeface="Times New Roman" panose="02020603050405020304" charset="0"/>
                <a:cs typeface="Times New Roman" panose="02020603050405020304" charset="0"/>
              </a:rPr>
              <a:t>Create new branch</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a:latin typeface="Times New Roman" panose="02020603050405020304" charset="0"/>
                <a:cs typeface="Times New Roman" panose="02020603050405020304" charset="0"/>
              </a:rPr>
              <a:t>Make changes</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a:latin typeface="Times New Roman" panose="02020603050405020304" charset="0"/>
                <a:cs typeface="Times New Roman" panose="02020603050405020304" charset="0"/>
              </a:rPr>
              <a:t>Push to GitHub</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a:latin typeface="Times New Roman" panose="02020603050405020304" charset="0"/>
                <a:cs typeface="Times New Roman" panose="02020603050405020304" charset="0"/>
              </a:rPr>
              <a:t>Create Pull Request</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a:latin typeface="Times New Roman" panose="02020603050405020304" charset="0"/>
                <a:cs typeface="Times New Roman" panose="02020603050405020304" charset="0"/>
              </a:rPr>
              <a:t>Review &amp; Merge</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859145"/>
          </a:xfrm>
        </p:spPr>
        <p:txBody>
          <a:bodyPr>
            <a:noAutofit/>
          </a:bodyPr>
          <a:p>
            <a:pPr marL="457200" indent="-457200">
              <a:buFont typeface="+mj-lt"/>
              <a:buAutoNum type="arabicPeriod"/>
            </a:pPr>
            <a:r>
              <a:rPr lang="en-US" altLang="en-US" sz="2400" b="1">
                <a:latin typeface="Times New Roman" panose="02020603050405020304" charset="0"/>
                <a:cs typeface="Times New Roman" panose="02020603050405020304" charset="0"/>
              </a:rPr>
              <a:t>Create or Clone a Repository</a:t>
            </a:r>
            <a:endParaRPr lang="en-US" altLang="en-US" sz="2400" b="1">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latin typeface="Times New Roman" panose="02020603050405020304" charset="0"/>
                <a:cs typeface="Times New Roman" panose="02020603050405020304" charset="0"/>
              </a:rPr>
              <a:t>Create a new repo on GitHub, or</a:t>
            </a:r>
            <a:endParaRPr lang="en-US" altLang="en-US" sz="2400">
              <a:latin typeface="Times New Roman" panose="02020603050405020304" charset="0"/>
              <a:cs typeface="Times New Roman" panose="02020603050405020304" charset="0"/>
            </a:endParaRPr>
          </a:p>
          <a:p>
            <a:pPr marL="800100" lvl="1" indent="-342900">
              <a:buFont typeface="Arial" panose="020B0604020202020204" pitchFamily="34" charset="0"/>
              <a:buChar char="•"/>
            </a:pPr>
            <a:r>
              <a:rPr lang="en-US" altLang="en-US" sz="2400">
                <a:latin typeface="Times New Roman" panose="02020603050405020304" charset="0"/>
                <a:cs typeface="Times New Roman" panose="02020603050405020304" charset="0"/>
              </a:rPr>
              <a:t>Clone an existing one to your local machine:</a:t>
            </a:r>
            <a:endParaRPr lang="en-US" altLang="en-US" sz="2400" b="1">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clone https://github.com/username/repo-name.git</a:t>
            </a:r>
            <a:endParaRPr lang="en-US" altLang="en-US" sz="2400" b="1">
              <a:latin typeface="Times New Roman" panose="02020603050405020304" charset="0"/>
              <a:cs typeface="Times New Roman" panose="02020603050405020304" charset="0"/>
            </a:endParaRPr>
          </a:p>
          <a:p>
            <a:pPr marL="457200" indent="-457200">
              <a:buFont typeface="+mj-lt"/>
              <a:buAutoNum type="arabicPeriod"/>
            </a:pPr>
            <a:r>
              <a:rPr lang="en-US" altLang="en-US" sz="2400" b="1">
                <a:latin typeface="Times New Roman" panose="02020603050405020304" charset="0"/>
                <a:cs typeface="Times New Roman" panose="02020603050405020304" charset="0"/>
              </a:rPr>
              <a:t>Create a Branch</a:t>
            </a:r>
            <a:endParaRPr lang="en-US" altLang="en-US" sz="2400" b="1">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Always work in a separate branch instead of the main branch:</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checkout -b feature/login-page</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b="1">
                <a:latin typeface="Times New Roman" panose="02020603050405020304" charset="0"/>
                <a:cs typeface="Times New Roman" panose="02020603050405020304" charset="0"/>
              </a:rPr>
              <a:t>Make Code Changes</a:t>
            </a:r>
            <a:endParaRPr lang="en-US" altLang="en-US" sz="2400" b="1">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Edit, add, or delete files in your local working directory.</a:t>
            </a:r>
            <a:endParaRPr lang="en-US" altLang="en-US" sz="2400">
              <a:latin typeface="Times New Roman" panose="02020603050405020304" charset="0"/>
              <a:cs typeface="Times New Roman" panose="02020603050405020304" charset="0"/>
            </a:endParaRPr>
          </a:p>
          <a:p>
            <a:pPr marL="457200" indent="-457200">
              <a:buFont typeface="+mj-lt"/>
              <a:buAutoNum type="arabicPeriod"/>
            </a:pPr>
            <a:r>
              <a:rPr lang="en-US" altLang="en-US" sz="2400" b="1">
                <a:latin typeface="Times New Roman" panose="02020603050405020304" charset="0"/>
                <a:cs typeface="Times New Roman" panose="02020603050405020304" charset="0"/>
              </a:rPr>
              <a:t>Stage the Changes</a:t>
            </a:r>
            <a:endParaRPr lang="en-US" altLang="en-US" sz="2400" b="1">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Mark files to be included in the next commit:</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add .</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 or add specific files:</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add index.html style.css</a:t>
            </a:r>
            <a:endParaRPr lang="en-US" altLang="en-US" sz="2400">
              <a:latin typeface="Times New Roman" panose="02020603050405020304" charset="0"/>
              <a:cs typeface="Times New Roman" panose="02020603050405020304" charset="0"/>
            </a:endParaRPr>
          </a:p>
          <a:p>
            <a:pPr marL="1371600" lvl="3" indent="457200">
              <a:buFont typeface="+mj-lt"/>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normAutofit lnSpcReduction="10000"/>
          </a:bodyPr>
          <a:p>
            <a:pPr marL="457200" indent="-457200">
              <a:buFont typeface="+mj-lt"/>
              <a:buAutoNum type="arabicPeriod" startAt="5"/>
            </a:pPr>
            <a:r>
              <a:rPr lang="en-US" altLang="en-US" sz="2400" b="1">
                <a:latin typeface="Times New Roman" panose="02020603050405020304" charset="0"/>
                <a:cs typeface="Times New Roman" panose="02020603050405020304" charset="0"/>
              </a:rPr>
              <a:t>Commit the Changes</a:t>
            </a:r>
            <a:endParaRPr lang="en-US" altLang="en-US" sz="2400" b="1">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Create a snapshot of your changes:</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commit -m "Add login page UI with basic validation"</a:t>
            </a:r>
            <a:endParaRPr lang="en-US" altLang="en-US" sz="2400" b="1">
              <a:latin typeface="Times New Roman" panose="02020603050405020304" charset="0"/>
              <a:cs typeface="Times New Roman" panose="02020603050405020304" charset="0"/>
            </a:endParaRPr>
          </a:p>
          <a:p>
            <a:pPr marL="457200" indent="-457200">
              <a:buFont typeface="+mj-lt"/>
              <a:buAutoNum type="arabicPeriod" startAt="5"/>
            </a:pPr>
            <a:r>
              <a:rPr lang="en-US" altLang="en-US" sz="2400" b="1">
                <a:latin typeface="Times New Roman" panose="02020603050405020304" charset="0"/>
                <a:cs typeface="Times New Roman" panose="02020603050405020304" charset="0"/>
              </a:rPr>
              <a:t>Pull Latest Changes from Remote (if needed)</a:t>
            </a:r>
            <a:endParaRPr lang="en-US" altLang="en-US" sz="2400" b="1">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Before pushing, get the latest updates from the remote repository:</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pull origin main</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5"/>
            </a:pPr>
            <a:r>
              <a:rPr lang="en-US" altLang="en-US" sz="2400" b="1">
                <a:latin typeface="Times New Roman" panose="02020603050405020304" charset="0"/>
                <a:cs typeface="Times New Roman" panose="02020603050405020304" charset="0"/>
              </a:rPr>
              <a:t>Push Your Branch to GitHub</a:t>
            </a:r>
            <a:endParaRPr lang="en-US" altLang="en-US" sz="2400" b="1">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Send your local branch to GitHub:</a:t>
            </a:r>
            <a:endParaRPr lang="en-US" altLang="en-US" sz="2400">
              <a:latin typeface="Times New Roman" panose="02020603050405020304" charset="0"/>
              <a:cs typeface="Times New Roman" panose="02020603050405020304" charset="0"/>
            </a:endParaRPr>
          </a:p>
          <a:p>
            <a:pPr marL="1371600" lvl="3" indent="457200">
              <a:buFont typeface="+mj-lt"/>
              <a:buNone/>
            </a:pPr>
            <a:r>
              <a:rPr lang="en-US" altLang="en-US" sz="2400">
                <a:latin typeface="Times New Roman" panose="02020603050405020304" charset="0"/>
                <a:cs typeface="Times New Roman" panose="02020603050405020304" charset="0"/>
              </a:rPr>
              <a:t>git push origin feature/login-page</a:t>
            </a:r>
            <a:endParaRPr lang="en-US" altLang="en-US" sz="2400" b="1">
              <a:latin typeface="Times New Roman" panose="02020603050405020304" charset="0"/>
              <a:cs typeface="Times New Roman" panose="02020603050405020304" charset="0"/>
            </a:endParaRPr>
          </a:p>
          <a:p>
            <a:pPr marL="457200" indent="-457200">
              <a:buFont typeface="+mj-lt"/>
              <a:buAutoNum type="arabicPeriod" startAt="5"/>
            </a:pPr>
            <a:r>
              <a:rPr lang="en-US" altLang="en-US" sz="2400" b="1">
                <a:latin typeface="Times New Roman" panose="02020603050405020304" charset="0"/>
                <a:cs typeface="Times New Roman" panose="02020603050405020304" charset="0"/>
              </a:rPr>
              <a:t>Open a Pull Request (PR)</a:t>
            </a:r>
            <a:endParaRPr lang="en-US" altLang="en-US" sz="2400" b="1">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Go to the repository</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Click Compare &amp; Pull Request</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Choose feature/login-page → main</a:t>
            </a:r>
            <a:endParaRPr lang="en-US" altLang="en-US" sz="2400">
              <a:latin typeface="Times New Roman" panose="02020603050405020304" charset="0"/>
              <a:cs typeface="Times New Roman" panose="02020603050405020304" charset="0"/>
            </a:endParaRPr>
          </a:p>
          <a:p>
            <a:pPr marL="914400" lvl="2" indent="0">
              <a:buFont typeface="+mj-lt"/>
              <a:buNone/>
            </a:pPr>
            <a:r>
              <a:rPr lang="en-US" altLang="en-US" sz="2400">
                <a:latin typeface="Times New Roman" panose="02020603050405020304" charset="0"/>
                <a:cs typeface="Times New Roman" panose="02020603050405020304" charset="0"/>
              </a:rPr>
              <a:t>Add a title, description, and reviewers</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914400" lvl="2" indent="0">
              <a:buFont typeface="+mj-lt"/>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5140"/>
            <a:ext cx="10058400" cy="5687060"/>
          </a:xfrm>
        </p:spPr>
        <p:txBody>
          <a:bodyPr/>
          <a:p>
            <a:pPr marL="457200" indent="-457200">
              <a:buFont typeface="+mj-lt"/>
              <a:buAutoNum type="arabicPeriod" startAt="9"/>
            </a:pPr>
            <a:r>
              <a:rPr lang="en-US" altLang="en-US" sz="2400" b="1">
                <a:latin typeface="Times New Roman" panose="02020603050405020304" charset="0"/>
                <a:cs typeface="Times New Roman" panose="02020603050405020304" charset="0"/>
              </a:rPr>
              <a:t>Code Review &amp; Feedback</a:t>
            </a:r>
            <a:endParaRPr lang="en-US" altLang="en-US" sz="2400" b="1">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Team members:</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Review your code</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Leave comments</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Suggest changes or approve</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9"/>
            </a:pPr>
            <a:r>
              <a:rPr lang="en-US" altLang="en-US" sz="2400" b="1">
                <a:latin typeface="Times New Roman" panose="02020603050405020304" charset="0"/>
                <a:cs typeface="Times New Roman" panose="02020603050405020304" charset="0"/>
              </a:rPr>
              <a:t>CI/CD Actions (Optional)</a:t>
            </a:r>
            <a:endParaRPr lang="en-US" altLang="en-US" sz="2400" b="1">
              <a:latin typeface="Times New Roman" panose="02020603050405020304" charset="0"/>
              <a:cs typeface="Times New Roman" panose="02020603050405020304" charset="0"/>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GitHub Actions may:</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Run tests</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Build the project</a:t>
            </a:r>
            <a:r>
              <a:rPr lang="en-IN" altLang="en-US" sz="2400">
                <a:latin typeface="Times New Roman" panose="02020603050405020304" charset="0"/>
                <a:cs typeface="Times New Roman" panose="02020603050405020304" charset="0"/>
              </a:rPr>
              <a:t>.</a:t>
            </a:r>
            <a:endParaRPr lang="en-IN"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Lint the code</a:t>
            </a:r>
            <a:r>
              <a:rPr lang="en-IN" altLang="en-US" sz="2400">
                <a:latin typeface="Times New Roman" panose="02020603050405020304" charset="0"/>
                <a:cs typeface="Times New Roman" panose="02020603050405020304" charset="0"/>
              </a:rPr>
              <a:t>.</a:t>
            </a:r>
            <a:endParaRPr lang="en-US" altLang="en-US" sz="2400" b="1">
              <a:latin typeface="Times New Roman" panose="02020603050405020304" charset="0"/>
              <a:cs typeface="Times New Roman" panose="02020603050405020304" charset="0"/>
            </a:endParaRPr>
          </a:p>
          <a:p>
            <a:pPr marL="0" indent="0">
              <a:buFont typeface="+mj-lt"/>
              <a:buNone/>
            </a:pPr>
            <a:endParaRPr lang="en-US" altLang="en-US" sz="2400" b="1">
              <a:latin typeface="Times New Roman" panose="02020603050405020304" charset="0"/>
              <a:cs typeface="Times New Roman" panose="0202060305040502030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069975" y="483870"/>
            <a:ext cx="10058400" cy="5688330"/>
          </a:xfrm>
        </p:spPr>
        <p:txBody>
          <a:bodyPr/>
          <a:p>
            <a:pPr marL="457200" indent="-457200">
              <a:buFont typeface="+mj-lt"/>
              <a:buAutoNum type="arabicPeriod" startAt="11"/>
            </a:pPr>
            <a:r>
              <a:rPr lang="en-US" altLang="en-US" sz="2400" b="1">
                <a:latin typeface="Times New Roman" panose="02020603050405020304" charset="0"/>
                <a:cs typeface="Times New Roman" panose="02020603050405020304" charset="0"/>
                <a:sym typeface="+mn-ea"/>
              </a:rPr>
              <a:t>Merge the Pull Request</a:t>
            </a:r>
            <a:endParaRPr lang="en-US" altLang="en-US" sz="2400" b="1">
              <a:latin typeface="Times New Roman" panose="02020603050405020304" charset="0"/>
              <a:cs typeface="Times New Roman" panose="02020603050405020304" charset="0"/>
              <a:sym typeface="+mn-ea"/>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After approval and successful checks:</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Click Merge</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1714500" lvl="3" indent="-342900">
              <a:buFont typeface="Arial" panose="020B0604020202020204" pitchFamily="34" charset="0"/>
              <a:buChar char="•"/>
            </a:pPr>
            <a:r>
              <a:rPr lang="en-US" altLang="en-US" sz="2400">
                <a:latin typeface="Times New Roman" panose="02020603050405020304" charset="0"/>
                <a:cs typeface="Times New Roman" panose="02020603050405020304" charset="0"/>
              </a:rPr>
              <a:t>Optionally delete the branch</a:t>
            </a:r>
            <a:r>
              <a:rPr lang="en-IN" altLang="en-US" sz="2400">
                <a:latin typeface="Times New Roman" panose="02020603050405020304" charset="0"/>
                <a:cs typeface="Times New Roman" panose="02020603050405020304" charset="0"/>
              </a:rPr>
              <a:t>.</a:t>
            </a:r>
            <a:endParaRPr lang="en-US" altLang="en-US" sz="2400">
              <a:latin typeface="Times New Roman" panose="02020603050405020304" charset="0"/>
              <a:cs typeface="Times New Roman" panose="02020603050405020304" charset="0"/>
            </a:endParaRPr>
          </a:p>
          <a:p>
            <a:pPr marL="457200" indent="-457200">
              <a:buFont typeface="+mj-lt"/>
              <a:buAutoNum type="arabicPeriod" startAt="11"/>
            </a:pPr>
            <a:r>
              <a:rPr lang="en-US" altLang="en-US" sz="2400" b="1">
                <a:latin typeface="Times New Roman" panose="02020603050405020304" charset="0"/>
                <a:cs typeface="Times New Roman" panose="02020603050405020304" charset="0"/>
                <a:sym typeface="+mn-ea"/>
              </a:rPr>
              <a:t>Pull Merged Code Locally</a:t>
            </a:r>
            <a:endParaRPr lang="en-US" altLang="en-US" sz="2400" b="1">
              <a:latin typeface="Times New Roman" panose="02020603050405020304" charset="0"/>
              <a:cs typeface="Times New Roman" panose="02020603050405020304" charset="0"/>
              <a:sym typeface="+mn-ea"/>
            </a:endParaRPr>
          </a:p>
          <a:p>
            <a:pPr marL="1257300" lvl="2" indent="-342900">
              <a:buFont typeface="Arial" panose="020B0604020202020204" pitchFamily="34" charset="0"/>
              <a:buChar char="•"/>
            </a:pPr>
            <a:r>
              <a:rPr lang="en-US" altLang="en-US" sz="2400">
                <a:latin typeface="Times New Roman" panose="02020603050405020304" charset="0"/>
                <a:cs typeface="Times New Roman" panose="02020603050405020304" charset="0"/>
              </a:rPr>
              <a:t>To keep your local main branch updated:</a:t>
            </a:r>
            <a:endParaRPr lang="en-US" altLang="en-US" sz="2400">
              <a:latin typeface="Times New Roman" panose="02020603050405020304" charset="0"/>
              <a:cs typeface="Times New Roman" panose="02020603050405020304" charset="0"/>
            </a:endParaRPr>
          </a:p>
          <a:p>
            <a:pPr marL="1371600" lvl="3" indent="457200">
              <a:buFont typeface="Arial" panose="020B0604020202020204" pitchFamily="34" charset="0"/>
              <a:buNone/>
            </a:pPr>
            <a:r>
              <a:rPr lang="en-US" altLang="en-US" sz="2400">
                <a:latin typeface="Times New Roman" panose="02020603050405020304" charset="0"/>
                <a:cs typeface="Times New Roman" panose="02020603050405020304" charset="0"/>
              </a:rPr>
              <a:t>git checkout main</a:t>
            </a:r>
            <a:endParaRPr lang="en-US" altLang="en-US" sz="2400">
              <a:latin typeface="Times New Roman" panose="02020603050405020304" charset="0"/>
              <a:cs typeface="Times New Roman" panose="02020603050405020304" charset="0"/>
            </a:endParaRPr>
          </a:p>
          <a:p>
            <a:pPr marL="1371600" lvl="3" indent="457200">
              <a:buFont typeface="Arial" panose="020B0604020202020204" pitchFamily="34" charset="0"/>
              <a:buNone/>
            </a:pPr>
            <a:r>
              <a:rPr lang="en-US" altLang="en-US" sz="2400">
                <a:latin typeface="Times New Roman" panose="02020603050405020304" charset="0"/>
                <a:cs typeface="Times New Roman" panose="02020603050405020304" charset="0"/>
              </a:rPr>
              <a:t>git pull origin main</a:t>
            </a:r>
            <a:endParaRPr lang="en-US" altLang="en-US" sz="2400">
              <a:latin typeface="Times New Roman" panose="02020603050405020304" charset="0"/>
              <a:cs typeface="Times New Roman" panose="02020603050405020304" charset="0"/>
            </a:endParaRPr>
          </a:p>
          <a:p>
            <a:pPr marL="1371600" lvl="3" indent="457200">
              <a:buFont typeface="Arial" panose="020B0604020202020204" pitchFamily="34" charset="0"/>
              <a:buNone/>
            </a:pPr>
            <a:endParaRPr lang="en-US" altLang="en-US" sz="2400">
              <a:latin typeface="Times New Roman" panose="02020603050405020304" charset="0"/>
              <a:cs typeface="Times New Roman" panose="02020603050405020304" charset="0"/>
            </a:endParaRPr>
          </a:p>
          <a:p>
            <a:pPr marL="0" indent="0">
              <a:buNone/>
            </a:pP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919480"/>
          </a:xfrm>
        </p:spPr>
        <p:txBody>
          <a:bodyPr/>
          <a:p>
            <a:r>
              <a:rPr lang="en-US" altLang="en-US">
                <a:solidFill>
                  <a:schemeClr val="accent2"/>
                </a:solidFill>
              </a:rPr>
              <a:t>Common Git Commands</a:t>
            </a:r>
            <a:endParaRPr lang="en-US" altLang="en-US">
              <a:solidFill>
                <a:schemeClr val="accent2"/>
              </a:solidFill>
            </a:endParaRPr>
          </a:p>
        </p:txBody>
      </p:sp>
      <p:sp>
        <p:nvSpPr>
          <p:cNvPr id="3" name="Content Placeholder 2"/>
          <p:cNvSpPr>
            <a:spLocks noGrp="1"/>
          </p:cNvSpPr>
          <p:nvPr>
            <p:ph idx="1"/>
          </p:nvPr>
        </p:nvSpPr>
        <p:spPr>
          <a:xfrm>
            <a:off x="1069975" y="1403985"/>
            <a:ext cx="10058400" cy="4768215"/>
          </a:xfrm>
        </p:spPr>
        <p:txBody>
          <a:bodyPr>
            <a:normAutofit/>
          </a:bodyPr>
          <a:p>
            <a:pPr marL="457200" indent="-457200">
              <a:buAutoNum type="arabicPeriod"/>
            </a:pPr>
            <a:r>
              <a:rPr lang="en-US" altLang="en-US" sz="2400">
                <a:latin typeface="Times New Roman" panose="02020603050405020304" charset="0"/>
                <a:cs typeface="Times New Roman" panose="02020603050405020304" charset="0"/>
              </a:rPr>
              <a:t>git init – Initialize repo</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a:latin typeface="Times New Roman" panose="02020603050405020304" charset="0"/>
                <a:cs typeface="Times New Roman" panose="02020603050405020304" charset="0"/>
              </a:rPr>
              <a:t>git status – Check status</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a:latin typeface="Times New Roman" panose="02020603050405020304" charset="0"/>
                <a:cs typeface="Times New Roman" panose="02020603050405020304" charset="0"/>
              </a:rPr>
              <a:t>git add – Stage changes</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a:latin typeface="Times New Roman" panose="02020603050405020304" charset="0"/>
                <a:cs typeface="Times New Roman" panose="02020603050405020304" charset="0"/>
              </a:rPr>
              <a:t>git commit -m – Save changes</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a:latin typeface="Times New Roman" panose="02020603050405020304" charset="0"/>
                <a:cs typeface="Times New Roman" panose="02020603050405020304" charset="0"/>
              </a:rPr>
              <a:t>git push – Send to remote</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a:latin typeface="Times New Roman" panose="02020603050405020304" charset="0"/>
                <a:cs typeface="Times New Roman" panose="02020603050405020304" charset="0"/>
              </a:rPr>
              <a:t>git pull – Get changes</a:t>
            </a:r>
            <a:endParaRPr lang="en-US" altLang="en-US" sz="2400">
              <a:latin typeface="Times New Roman" panose="02020603050405020304" charset="0"/>
              <a:cs typeface="Times New Roman" panose="02020603050405020304" charset="0"/>
            </a:endParaRPr>
          </a:p>
          <a:p>
            <a:pPr marL="457200" indent="-457200">
              <a:buAutoNum type="arabicPeriod"/>
            </a:pPr>
            <a:r>
              <a:rPr lang="en-US" altLang="en-US" sz="2400">
                <a:latin typeface="Times New Roman" panose="02020603050405020304" charset="0"/>
                <a:cs typeface="Times New Roman" panose="02020603050405020304" charset="0"/>
              </a:rPr>
              <a:t>git branch – List branches</a:t>
            </a:r>
            <a:endParaRPr lang="en-US" altLang="en-US" sz="2400">
              <a:latin typeface="Times New Roman" panose="02020603050405020304" charset="0"/>
              <a:cs typeface="Times New Roman" panose="02020603050405020304"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069975" y="484505"/>
            <a:ext cx="10058400" cy="1013460"/>
          </a:xfrm>
        </p:spPr>
        <p:txBody>
          <a:bodyPr/>
          <a:p>
            <a:r>
              <a:rPr lang="en-IN" altLang="en-US">
                <a:solidFill>
                  <a:schemeClr val="accent2"/>
                </a:solidFill>
              </a:rPr>
              <a:t>git vs github</a:t>
            </a:r>
            <a:endParaRPr lang="en-IN" altLang="en-US">
              <a:solidFill>
                <a:schemeClr val="accent2"/>
              </a:solidFill>
            </a:endParaRPr>
          </a:p>
        </p:txBody>
      </p:sp>
      <p:graphicFrame>
        <p:nvGraphicFramePr>
          <p:cNvPr id="4" name="Content Placeholder 3"/>
          <p:cNvGraphicFramePr/>
          <p:nvPr>
            <p:ph idx="1"/>
          </p:nvPr>
        </p:nvGraphicFramePr>
        <p:xfrm>
          <a:off x="1069975" y="2093595"/>
          <a:ext cx="10058400" cy="1905000"/>
        </p:xfrm>
        <a:graphic>
          <a:graphicData uri="http://schemas.openxmlformats.org/drawingml/2006/table">
            <a:tbl>
              <a:tblPr firstRow="1" bandRow="1">
                <a:tableStyleId>{5C22544A-7EE6-4342-B048-85BDC9FD1C3A}</a:tableStyleId>
              </a:tblPr>
              <a:tblGrid>
                <a:gridCol w="3352800"/>
                <a:gridCol w="3352800"/>
                <a:gridCol w="3352800"/>
              </a:tblGrid>
              <a:tr h="381000">
                <a:tc>
                  <a:txBody>
                    <a:bodyPr/>
                    <a:p>
                      <a:pPr algn="ctr">
                        <a:buNone/>
                      </a:pPr>
                      <a:r>
                        <a:rPr lang="en-IN" altLang="en-US" sz="2400">
                          <a:solidFill>
                            <a:schemeClr val="tx1"/>
                          </a:solidFill>
                          <a:latin typeface="Times New Roman" panose="02020603050405020304" charset="0"/>
                          <a:cs typeface="Times New Roman" panose="02020603050405020304" charset="0"/>
                        </a:rPr>
                        <a:t>Feature</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Git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GitHub</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IN" altLang="en-US" sz="2400">
                          <a:solidFill>
                            <a:schemeClr val="tx1"/>
                          </a:solidFill>
                          <a:latin typeface="Times New Roman" panose="02020603050405020304" charset="0"/>
                          <a:cs typeface="Times New Roman" panose="02020603050405020304" charset="0"/>
                        </a:rPr>
                        <a:t>Type</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Tool(VSC)</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Platform(Hosting)</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IN" altLang="en-US" sz="2400">
                          <a:solidFill>
                            <a:schemeClr val="tx1"/>
                          </a:solidFill>
                          <a:latin typeface="Times New Roman" panose="02020603050405020304" charset="0"/>
                          <a:cs typeface="Times New Roman" panose="02020603050405020304" charset="0"/>
                        </a:rPr>
                        <a:t>Works Offline</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Yes</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No</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IN" altLang="en-US" sz="2400">
                          <a:solidFill>
                            <a:schemeClr val="tx1"/>
                          </a:solidFill>
                          <a:latin typeface="Times New Roman" panose="02020603050405020304" charset="0"/>
                          <a:cs typeface="Times New Roman" panose="02020603050405020304" charset="0"/>
                        </a:rPr>
                        <a:t>Collaboration</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Limited</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Excellent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r h="381000">
                <a:tc>
                  <a:txBody>
                    <a:bodyPr/>
                    <a:p>
                      <a:pPr algn="ctr">
                        <a:buNone/>
                      </a:pPr>
                      <a:r>
                        <a:rPr lang="en-IN" altLang="en-US" sz="2400">
                          <a:solidFill>
                            <a:schemeClr val="tx1"/>
                          </a:solidFill>
                          <a:latin typeface="Times New Roman" panose="02020603050405020304" charset="0"/>
                          <a:cs typeface="Times New Roman" panose="02020603050405020304" charset="0"/>
                        </a:rPr>
                        <a:t>Developed by</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Linus Torvalds</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c>
                  <a:txBody>
                    <a:bodyPr/>
                    <a:p>
                      <a:pPr algn="ctr">
                        <a:buNone/>
                      </a:pPr>
                      <a:r>
                        <a:rPr lang="en-IN" altLang="en-US" sz="2400">
                          <a:solidFill>
                            <a:schemeClr val="tx1"/>
                          </a:solidFill>
                          <a:latin typeface="Times New Roman" panose="02020603050405020304" charset="0"/>
                          <a:cs typeface="Times New Roman" panose="02020603050405020304" charset="0"/>
                        </a:rPr>
                        <a:t>GitHub Inc(MSFT)</a:t>
                      </a:r>
                      <a:endParaRPr lang="en-IN" altLang="en-US" sz="2400">
                        <a:solidFill>
                          <a:schemeClr val="tx1"/>
                        </a:solidFill>
                        <a:latin typeface="Times New Roman" panose="02020603050405020304" charset="0"/>
                        <a:cs typeface="Times New Roman" panose="02020603050405020304" charset="0"/>
                      </a:endParaRPr>
                    </a:p>
                  </a:txBody>
                  <a:tcPr>
                    <a:lnL w="19050" cmpd="sng">
                      <a:solidFill>
                        <a:schemeClr val="accent1">
                          <a:lumMod val="75000"/>
                        </a:schemeClr>
                      </a:solidFill>
                      <a:prstDash val="solid"/>
                    </a:lnL>
                    <a:lnR w="19050" cmpd="sng">
                      <a:solidFill>
                        <a:schemeClr val="accent1">
                          <a:lumMod val="75000"/>
                        </a:schemeClr>
                      </a:solidFill>
                      <a:prstDash val="solid"/>
                    </a:lnR>
                    <a:lnT w="19050" cmpd="sng">
                      <a:solidFill>
                        <a:schemeClr val="accent1">
                          <a:lumMod val="75000"/>
                        </a:schemeClr>
                      </a:solidFill>
                      <a:prstDash val="solid"/>
                    </a:lnT>
                    <a:lnB w="19050" cmpd="sng">
                      <a:solidFill>
                        <a:schemeClr val="accent1">
                          <a:lumMod val="75000"/>
                        </a:schemeClr>
                      </a:solidFill>
                      <a:prstDash val="solid"/>
                    </a:lnB>
                    <a:noFill/>
                  </a:tcPr>
                </a:tc>
              </a:tr>
            </a:tbl>
          </a:graphicData>
        </a:graphic>
      </p:graphicFrame>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image" Target="../media/image6.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Grunge Texture">
      <a:fillStyleLst>
        <a:solidFill>
          <a:schemeClr val="phClr"/>
        </a:solidFill>
        <a:blipFill rotWithShape="1">
          <a:blip xmlns:r="http://schemas.openxmlformats.org/officeDocument/2006/relationships" r:embed="rId1">
            <a:duotone>
              <a:schemeClr val="phClr">
                <a:tint val="67000"/>
                <a:shade val="65000"/>
              </a:schemeClr>
              <a:schemeClr val="phClr">
                <a:tint val="10000"/>
                <a:satMod val="130000"/>
              </a:schemeClr>
            </a:duotone>
          </a:blip>
          <a:tile tx="0" ty="0" sx="60000" sy="59000" flip="none" algn="b"/>
        </a:blipFill>
        <a:blipFill rotWithShape="1">
          <a:blip xmlns:r="http://schemas.openxmlformats.org/officeDocument/2006/relationships" r:embed="rId1">
            <a:duotone>
              <a:schemeClr val="phClr">
                <a:shade val="30000"/>
                <a:satMod val="115000"/>
              </a:schemeClr>
              <a:schemeClr val="phClr">
                <a:tint val="34000"/>
              </a:schemeClr>
            </a:duotone>
          </a:blip>
          <a:tile tx="0" ty="0" sx="60000" sy="59000" flip="none" algn="b"/>
        </a:blipFill>
      </a:fillStyleLst>
      <a:lnStyleLst>
        <a:ln w="6350" cap="flat" cmpd="sng" algn="ctr">
          <a:solidFill>
            <a:schemeClr val="phClr">
              <a:tint val="70000"/>
            </a:scheme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2">
            <a:duotone>
              <a:schemeClr val="phClr">
                <a:tint val="75000"/>
                <a:shade val="58000"/>
                <a:satMod val="120000"/>
              </a:schemeClr>
              <a:schemeClr val="phClr">
                <a:tint val="50000"/>
                <a:shade val="96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0</TotalTime>
  <Words>16166</Words>
  <Application>WPS Presentation</Application>
  <PresentationFormat>Widescreen</PresentationFormat>
  <Paragraphs>649</Paragraphs>
  <Slides>50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50</vt:i4>
      </vt:variant>
    </vt:vector>
  </HeadingPairs>
  <TitlesOfParts>
    <vt:vector size="60" baseType="lpstr">
      <vt:lpstr>Arial</vt:lpstr>
      <vt:lpstr>SimSun</vt:lpstr>
      <vt:lpstr>Wingdings</vt:lpstr>
      <vt:lpstr>Times New Roman</vt:lpstr>
      <vt:lpstr>Rockwell Condensed</vt:lpstr>
      <vt:lpstr>Microsoft YaHei</vt:lpstr>
      <vt:lpstr>Arial Unicode MS</vt:lpstr>
      <vt:lpstr>Rockwell</vt:lpstr>
      <vt:lpstr>Calibri</vt:lpstr>
      <vt:lpstr>Wood Type</vt:lpstr>
      <vt:lpstr>Git &amp; GitHub</vt:lpstr>
      <vt:lpstr>what is git?</vt:lpstr>
      <vt:lpstr>git concepts</vt:lpstr>
      <vt:lpstr>repository(repo)</vt:lpstr>
      <vt:lpstr>PowerPoint 演示文稿</vt:lpstr>
      <vt:lpstr>what is a commit in git?</vt:lpstr>
      <vt:lpstr>PowerPoint 演示文稿</vt:lpstr>
      <vt:lpstr>What is a Branch in Git?</vt:lpstr>
      <vt:lpstr>PowerPoint 演示文稿</vt:lpstr>
      <vt:lpstr>PowerPoint 演示文稿</vt:lpstr>
      <vt:lpstr>What is Merge in Git?</vt:lpstr>
      <vt:lpstr>PowerPoint 演示文稿</vt:lpstr>
      <vt:lpstr>PowerPoint 演示文稿</vt:lpstr>
      <vt:lpstr>What is clone in Git?</vt:lpstr>
      <vt:lpstr>PowerPoint 演示文稿</vt:lpstr>
      <vt:lpstr>What is git pull in Git?</vt:lpstr>
      <vt:lpstr>What is git push in Git?</vt:lpstr>
      <vt:lpstr>Git Workflow</vt:lpstr>
      <vt:lpstr>PowerPoint 演示文稿</vt:lpstr>
      <vt:lpstr>PowerPoint 演示文稿</vt:lpstr>
      <vt:lpstr>PowerPoint 演示文稿</vt:lpstr>
      <vt:lpstr>PowerPoint 演示文稿</vt:lpstr>
      <vt:lpstr>PowerPoint 演示文稿</vt:lpstr>
      <vt:lpstr>what is github?</vt:lpstr>
      <vt:lpstr>Key GitHub Features</vt:lpstr>
      <vt:lpstr>What is a Repository in GitHub?</vt:lpstr>
      <vt:lpstr>PowerPoint 演示文稿</vt:lpstr>
      <vt:lpstr>PowerPoint 演示文稿</vt:lpstr>
      <vt:lpstr>What are Issues in GitHub?</vt:lpstr>
      <vt:lpstr>What is a Pull Request(PR) in GitHub?</vt:lpstr>
      <vt:lpstr>PowerPoint 演示文稿</vt:lpstr>
      <vt:lpstr>What is Branch Protection in GitHub?</vt:lpstr>
      <vt:lpstr>PowerPoint 演示文稿</vt:lpstr>
      <vt:lpstr>PowerPoint 演示文稿</vt:lpstr>
      <vt:lpstr>PowerPoint 演示文稿</vt:lpstr>
      <vt:lpstr>PowerPoint 演示文稿</vt:lpstr>
      <vt:lpstr>What is a Code Review Tool in GitHub?</vt:lpstr>
      <vt:lpstr>PowerPoint 演示文稿</vt:lpstr>
      <vt:lpstr>PowerPoint 演示文稿</vt:lpstr>
      <vt:lpstr>PowerPoint 演示文稿</vt:lpstr>
      <vt:lpstr>What are GitHub Actions?</vt:lpstr>
      <vt:lpstr>PowerPoint 演示文稿</vt:lpstr>
      <vt:lpstr>PowerPoint 演示文稿</vt:lpstr>
      <vt:lpstr>GitHub Workflow</vt:lpstr>
      <vt:lpstr>PowerPoint 演示文稿</vt:lpstr>
      <vt:lpstr>PowerPoint 演示文稿</vt:lpstr>
      <vt:lpstr>PowerPoint 演示文稿</vt:lpstr>
      <vt:lpstr>PowerPoint 演示文稿</vt:lpstr>
      <vt:lpstr>Common Git Commands</vt:lpstr>
      <vt:lpstr>git vs github</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&amp; GitHub</dc:title>
  <dc:creator>LEELAANKITHA DUDDUKURI</dc:creator>
  <cp:lastModifiedBy>leelaankitha duddukuri</cp:lastModifiedBy>
  <cp:revision>43</cp:revision>
  <dcterms:created xsi:type="dcterms:W3CDTF">2025-04-16T11:41:00Z</dcterms:created>
  <dcterms:modified xsi:type="dcterms:W3CDTF">2025-09-12T07:21:12Z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313453A0F9804E0480E9975BBDA7C4B8_12</vt:lpwstr>
  </property>
  <property fmtid="{D5CDD505-2E9C-101B-9397-08002B2CF9AE}" pid="3" name="KSOProductBuildVer">
    <vt:lpwstr>1033-12.2.0.22549</vt:lpwstr>
  </property>
</Properties>
</file>